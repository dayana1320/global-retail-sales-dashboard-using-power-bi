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3" r:id="rId17"/>
    <p:sldId id="274" r:id="rId18"/>
    <p:sldId id="276" r:id="rId19"/>
    <p:sldId id="277" r:id="rId20"/>
    <p:sldId id="278" r:id="rId21"/>
    <p:sldId id="281" r:id="rId22"/>
    <p:sldId id="280"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32" autoAdjust="0"/>
    <p:restoredTop sz="94610"/>
  </p:normalViewPr>
  <p:slideViewPr>
    <p:cSldViewPr snapToGrid="0" snapToObjects="1">
      <p:cViewPr varScale="1">
        <p:scale>
          <a:sx n="69" d="100"/>
          <a:sy n="69" d="100"/>
        </p:scale>
        <p:origin x="130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Total Sales ($)</c:v>
                </c:pt>
              </c:strCache>
            </c:strRef>
          </c:tx>
          <c:spPr>
            <a:solidFill>
              <a:srgbClr val="1E3A5F"/>
            </a:solidFill>
            <a:effectLst/>
          </c:spPr>
          <c:invertIfNegative val="0"/>
          <c:dLbls>
            <c:numFmt formatCode="#,##0.0,,&quot;M&quot;" sourceLinked="0"/>
            <c:spPr>
              <a:noFill/>
              <a:ln>
                <a:noFill/>
              </a:ln>
              <a:effectLst/>
            </c:spPr>
            <c:txPr>
              <a:bodyPr/>
              <a:lstStyle/>
              <a:p>
                <a:pPr>
                  <a:defRPr sz="1200" b="0" i="0" u="none" strike="noStrike">
                    <a:solidFill>
                      <a:srgbClr val="1A1A1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Central</c:v>
                </c:pt>
                <c:pt idx="1">
                  <c:v>South</c:v>
                </c:pt>
                <c:pt idx="2">
                  <c:v>North</c:v>
                </c:pt>
                <c:pt idx="3">
                  <c:v>Oceania</c:v>
                </c:pt>
                <c:pt idx="4">
                  <c:v>Southeast Asia</c:v>
                </c:pt>
              </c:strCache>
            </c:strRef>
          </c:cat>
          <c:val>
            <c:numRef>
              <c:f>Sheet1!$B$2:$B$6</c:f>
              <c:numCache>
                <c:formatCode>General</c:formatCode>
                <c:ptCount val="5"/>
                <c:pt idx="0">
                  <c:v>2800000</c:v>
                </c:pt>
                <c:pt idx="1">
                  <c:v>1600000</c:v>
                </c:pt>
                <c:pt idx="2">
                  <c:v>1200000</c:v>
                </c:pt>
                <c:pt idx="3">
                  <c:v>1100000</c:v>
                </c:pt>
                <c:pt idx="4">
                  <c:v>900000</c:v>
                </c:pt>
              </c:numCache>
            </c:numRef>
          </c:val>
          <c:extLst>
            <c:ext xmlns:c16="http://schemas.microsoft.com/office/drawing/2014/chart" uri="{C3380CC4-5D6E-409C-BE32-E72D297353CC}">
              <c16:uniqueId val="{00000000-71E8-4EBB-9CAD-566F93B5DF8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AEAEA"/>
              </a:solidFill>
              <a:prstDash val="solid"/>
              <a:round/>
            </a:ln>
          </c:spPr>
        </c:majorGridlines>
        <c:numFmt formatCode="#,##0.0,,&quot;M&quot;" sourceLinked="0"/>
        <c:majorTickMark val="out"/>
        <c:minorTickMark val="none"/>
        <c:tickLblPos val="low"/>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Segment Contribution</c:v>
                </c:pt>
              </c:strCache>
            </c:strRef>
          </c:tx>
          <c:spPr>
            <a:solidFill>
              <a:schemeClr val="accent1"/>
            </a:solidFill>
            <a:ln w="9525" cap="flat">
              <a:solidFill>
                <a:srgbClr val="F9F9F9"/>
              </a:solidFill>
              <a:prstDash val="solid"/>
              <a:round/>
            </a:ln>
            <a:effectLst/>
          </c:spPr>
          <c:dPt>
            <c:idx val="0"/>
            <c:bubble3D val="0"/>
            <c:spPr>
              <a:solidFill>
                <a:srgbClr val="00A896"/>
              </a:solidFill>
              <a:effectLst/>
            </c:spPr>
            <c:extLst>
              <c:ext xmlns:c16="http://schemas.microsoft.com/office/drawing/2014/chart" uri="{C3380CC4-5D6E-409C-BE32-E72D297353CC}">
                <c16:uniqueId val="{00000001-D3E6-47B4-8149-712C0A826E65}"/>
              </c:ext>
            </c:extLst>
          </c:dPt>
          <c:dPt>
            <c:idx val="1"/>
            <c:bubble3D val="0"/>
            <c:spPr>
              <a:solidFill>
                <a:srgbClr val="F96167"/>
              </a:solidFill>
              <a:effectLst/>
            </c:spPr>
            <c:extLst>
              <c:ext xmlns:c16="http://schemas.microsoft.com/office/drawing/2014/chart" uri="{C3380CC4-5D6E-409C-BE32-E72D297353CC}">
                <c16:uniqueId val="{00000003-D3E6-47B4-8149-712C0A826E65}"/>
              </c:ext>
            </c:extLst>
          </c:dPt>
          <c:dPt>
            <c:idx val="2"/>
            <c:bubble3D val="0"/>
            <c:spPr>
              <a:solidFill>
                <a:srgbClr val="1E3A5F"/>
              </a:solidFill>
              <a:effectLst/>
            </c:spPr>
            <c:extLst>
              <c:ext xmlns:c16="http://schemas.microsoft.com/office/drawing/2014/chart" uri="{C3380CC4-5D6E-409C-BE32-E72D297353CC}">
                <c16:uniqueId val="{00000005-D3E6-47B4-8149-712C0A826E65}"/>
              </c:ext>
            </c:extLst>
          </c:dPt>
          <c:dLbls>
            <c:dLbl>
              <c:idx val="0"/>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3E6-47B4-8149-712C0A826E65}"/>
                </c:ext>
              </c:extLst>
            </c:dLbl>
            <c:dLbl>
              <c:idx val="1"/>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3E6-47B4-8149-712C0A826E65}"/>
                </c:ext>
              </c:extLst>
            </c:dLbl>
            <c:dLbl>
              <c:idx val="2"/>
              <c:numFmt formatCode="0%" sourceLinked="0"/>
              <c:spPr/>
              <c:txPr>
                <a:bodyPr/>
                <a:lstStyle/>
                <a:p>
                  <a:pPr>
                    <a:defRPr sz="12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3E6-47B4-8149-712C0A826E65}"/>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Consumer</c:v>
                </c:pt>
                <c:pt idx="1">
                  <c:v>Corporate</c:v>
                </c:pt>
                <c:pt idx="2">
                  <c:v>Home Office</c:v>
                </c:pt>
              </c:strCache>
            </c:strRef>
          </c:cat>
          <c:val>
            <c:numRef>
              <c:f>Sheet1!$B$2:$B$4</c:f>
              <c:numCache>
                <c:formatCode>General</c:formatCode>
                <c:ptCount val="3"/>
                <c:pt idx="0">
                  <c:v>6510000</c:v>
                </c:pt>
                <c:pt idx="1">
                  <c:v>3820000</c:v>
                </c:pt>
                <c:pt idx="2">
                  <c:v>2310000</c:v>
                </c:pt>
              </c:numCache>
            </c:numRef>
          </c:val>
          <c:extLst>
            <c:ext xmlns:c16="http://schemas.microsoft.com/office/drawing/2014/chart" uri="{C3380CC4-5D6E-409C-BE32-E72D297353CC}">
              <c16:uniqueId val="{00000006-D3E6-47B4-8149-712C0A826E65}"/>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a:solidFill>
                <a:srgbClr val="1A1A1A"/>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Sales</c:v>
                </c:pt>
              </c:strCache>
            </c:strRef>
          </c:tx>
          <c:spPr>
            <a:solidFill>
              <a:srgbClr val="7FB3D5"/>
            </a:solidFill>
            <a:effectLst/>
          </c:spPr>
          <c:invertIfNegative val="0"/>
          <c:dLbls>
            <c:numFmt formatCode="#,##0,&quot;K&quot;" sourceLinked="0"/>
            <c:spPr>
              <a:noFill/>
              <a:ln>
                <a:noFill/>
              </a:ln>
              <a:effectLst/>
            </c:spPr>
            <c:txPr>
              <a:bodyPr/>
              <a:lstStyle/>
              <a:p>
                <a:pPr>
                  <a:defRPr sz="1200" b="0" i="0" u="none" strike="noStrike">
                    <a:solidFill>
                      <a:srgbClr val="FFFFFF"/>
                    </a:solidFill>
                    <a:latin typeface="Arial"/>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Nokia Smart Phone, Full Size</c:v>
                </c:pt>
                <c:pt idx="1">
                  <c:v>Motorola Smart Phone, Full Size</c:v>
                </c:pt>
                <c:pt idx="2">
                  <c:v>Cisco Smart Phone, Full Size</c:v>
                </c:pt>
                <c:pt idx="3">
                  <c:v>Apple Smart Phone, Full Size</c:v>
                </c:pt>
              </c:strCache>
            </c:strRef>
          </c:cat>
          <c:val>
            <c:numRef>
              <c:f>Sheet1!$B$2:$B$5</c:f>
              <c:numCache>
                <c:formatCode>General</c:formatCode>
                <c:ptCount val="4"/>
                <c:pt idx="0">
                  <c:v>72000</c:v>
                </c:pt>
                <c:pt idx="1">
                  <c:v>73000</c:v>
                </c:pt>
                <c:pt idx="2">
                  <c:v>76000</c:v>
                </c:pt>
                <c:pt idx="3">
                  <c:v>87000</c:v>
                </c:pt>
              </c:numCache>
            </c:numRef>
          </c:val>
          <c:extLst>
            <c:ext xmlns:c16="http://schemas.microsoft.com/office/drawing/2014/chart" uri="{C3380CC4-5D6E-409C-BE32-E72D297353CC}">
              <c16:uniqueId val="{00000000-CC96-42D8-90E2-23562D2B7F63}"/>
            </c:ext>
          </c:extLst>
        </c:ser>
        <c:dLbls>
          <c:dLblPos val="inEnd"/>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82839060290856"/>
          <c:y val="8.5130862039862212E-2"/>
          <c:w val="0.87210331778541628"/>
          <c:h val="0.8297382759202756"/>
        </c:manualLayout>
      </c:layout>
      <c:barChart>
        <c:barDir val="bar"/>
        <c:grouping val="clustered"/>
        <c:varyColors val="0"/>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A1A1A"/>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4294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6" name="Image 0" descr="/home/claude/work/assets/logo.png"/>
          <p:cNvPicPr>
            <a:picLocks noChangeAspect="1"/>
          </p:cNvPicPr>
          <p:nvPr/>
        </p:nvPicPr>
        <p:blipFill>
          <a:blip r:embed="rId3"/>
          <a:stretch>
            <a:fillRect/>
          </a:stretch>
        </p:blipFill>
        <p:spPr>
          <a:xfrm>
            <a:off x="640080" y="502920"/>
            <a:ext cx="2377440" cy="496080"/>
          </a:xfrm>
          <a:prstGeom prst="rect">
            <a:avLst/>
          </a:prstGeom>
        </p:spPr>
      </p:pic>
      <p:sp>
        <p:nvSpPr>
          <p:cNvPr id="7" name="Text 4"/>
          <p:cNvSpPr/>
          <p:nvPr/>
        </p:nvSpPr>
        <p:spPr>
          <a:xfrm>
            <a:off x="640080" y="1051560"/>
            <a:ext cx="7315200" cy="365760"/>
          </a:xfrm>
          <a:prstGeom prst="rect">
            <a:avLst/>
          </a:prstGeom>
          <a:noFill/>
          <a:ln/>
        </p:spPr>
        <p:txBody>
          <a:bodyPr wrap="square" rtlCol="0" anchor="ctr"/>
          <a:lstStyle/>
          <a:p>
            <a:pPr marL="0" indent="0">
              <a:buNone/>
            </a:pPr>
            <a:r>
              <a:rPr lang="en-US" sz="1400" b="1" dirty="0">
                <a:solidFill>
                  <a:srgbClr val="FF0000"/>
                </a:solidFill>
                <a:latin typeface="Arial" pitchFamily="34" charset="0"/>
                <a:ea typeface="Arial" pitchFamily="34" charset="-122"/>
                <a:cs typeface="Arial" pitchFamily="34" charset="-120"/>
              </a:rPr>
              <a:t>INNO</a:t>
            </a:r>
            <a:r>
              <a:rPr lang="en-US" sz="1400" b="1" dirty="0">
                <a:solidFill>
                  <a:srgbClr val="1A1A1A"/>
                </a:solidFill>
                <a:latin typeface="Arial" pitchFamily="34" charset="0"/>
                <a:ea typeface="Arial" pitchFamily="34" charset="-122"/>
                <a:cs typeface="Arial" pitchFamily="34" charset="-120"/>
              </a:rPr>
              <a:t>VATION. </a:t>
            </a:r>
            <a:r>
              <a:rPr lang="en-US" sz="1400" b="1" dirty="0">
                <a:solidFill>
                  <a:srgbClr val="FF0000"/>
                </a:solidFill>
                <a:latin typeface="Arial" pitchFamily="34" charset="0"/>
                <a:ea typeface="Arial" pitchFamily="34" charset="-122"/>
                <a:cs typeface="Arial" pitchFamily="34" charset="-120"/>
              </a:rPr>
              <a:t>AUTOMAT</a:t>
            </a:r>
            <a:r>
              <a:rPr lang="en-US" sz="1400" b="1" dirty="0">
                <a:solidFill>
                  <a:srgbClr val="1A1A1A"/>
                </a:solidFill>
                <a:latin typeface="Arial" pitchFamily="34" charset="0"/>
                <a:ea typeface="Arial" pitchFamily="34" charset="-122"/>
                <a:cs typeface="Arial" pitchFamily="34" charset="-120"/>
              </a:rPr>
              <a:t>ION. ANALY</a:t>
            </a:r>
            <a:r>
              <a:rPr lang="en-US" sz="1400" b="1" dirty="0">
                <a:solidFill>
                  <a:srgbClr val="FF0000"/>
                </a:solidFill>
                <a:latin typeface="Arial" pitchFamily="34" charset="0"/>
                <a:ea typeface="Arial" pitchFamily="34" charset="-122"/>
                <a:cs typeface="Arial" pitchFamily="34" charset="-120"/>
              </a:rPr>
              <a:t>TICS</a:t>
            </a:r>
            <a:endParaRPr lang="en-US" sz="1400" dirty="0"/>
          </a:p>
        </p:txBody>
      </p:sp>
      <p:sp>
        <p:nvSpPr>
          <p:cNvPr id="8" name="Text 5"/>
          <p:cNvSpPr/>
          <p:nvPr/>
        </p:nvSpPr>
        <p:spPr>
          <a:xfrm>
            <a:off x="640080" y="2423160"/>
            <a:ext cx="5486400" cy="457200"/>
          </a:xfrm>
          <a:prstGeom prst="rect">
            <a:avLst/>
          </a:prstGeom>
          <a:noFill/>
          <a:ln/>
        </p:spPr>
        <p:txBody>
          <a:bodyPr wrap="square" rtlCol="0" anchor="ctr"/>
          <a:lstStyle/>
          <a:p>
            <a:pPr marL="0" indent="0">
              <a:buNone/>
            </a:pPr>
            <a:r>
              <a:rPr lang="en-US" sz="2000" b="1" dirty="0">
                <a:solidFill>
                  <a:srgbClr val="FF0000"/>
                </a:solidFill>
                <a:latin typeface="Arial" pitchFamily="34" charset="0"/>
                <a:ea typeface="Arial" pitchFamily="34" charset="-122"/>
                <a:cs typeface="Arial" pitchFamily="34" charset="-120"/>
              </a:rPr>
              <a:t>PROJECT ON</a:t>
            </a:r>
            <a:endParaRPr lang="en-US" sz="2000" dirty="0"/>
          </a:p>
        </p:txBody>
      </p:sp>
      <p:sp>
        <p:nvSpPr>
          <p:cNvPr id="9" name="Text 6"/>
          <p:cNvSpPr/>
          <p:nvPr/>
        </p:nvSpPr>
        <p:spPr>
          <a:xfrm>
            <a:off x="640080" y="2880360"/>
            <a:ext cx="8686800" cy="822960"/>
          </a:xfrm>
          <a:prstGeom prst="rect">
            <a:avLst/>
          </a:prstGeom>
          <a:noFill/>
          <a:ln/>
        </p:spPr>
        <p:txBody>
          <a:bodyPr wrap="square" rtlCol="0" anchor="ctr"/>
          <a:lstStyle/>
          <a:p>
            <a:pPr marL="0" indent="0">
              <a:buNone/>
            </a:pPr>
            <a:r>
              <a:rPr lang="en-US" sz="3600" b="1" dirty="0">
                <a:solidFill>
                  <a:srgbClr val="1A1A1A"/>
                </a:solidFill>
                <a:latin typeface="Arial" pitchFamily="34" charset="0"/>
                <a:ea typeface="Arial" pitchFamily="34" charset="-122"/>
                <a:cs typeface="Arial" pitchFamily="34" charset="-120"/>
              </a:rPr>
              <a:t>Global Retail Sales</a:t>
            </a:r>
            <a:endParaRPr lang="en-US" sz="3600" dirty="0"/>
          </a:p>
        </p:txBody>
      </p:sp>
      <p:sp>
        <p:nvSpPr>
          <p:cNvPr id="10" name="Text 7"/>
          <p:cNvSpPr/>
          <p:nvPr/>
        </p:nvSpPr>
        <p:spPr>
          <a:xfrm>
            <a:off x="640080" y="3611880"/>
            <a:ext cx="8961120" cy="548640"/>
          </a:xfrm>
          <a:prstGeom prst="rect">
            <a:avLst/>
          </a:prstGeom>
          <a:noFill/>
          <a:ln/>
        </p:spPr>
        <p:txBody>
          <a:bodyPr wrap="square" rtlCol="0" anchor="ctr"/>
          <a:lstStyle/>
          <a:p>
            <a:pPr marL="0" indent="0">
              <a:buNone/>
            </a:pPr>
            <a:r>
              <a:rPr lang="en-US" sz="1800" i="1" dirty="0">
                <a:solidFill>
                  <a:srgbClr val="1E3A5F"/>
                </a:solidFill>
                <a:latin typeface="Arial" pitchFamily="34" charset="0"/>
                <a:ea typeface="Arial" pitchFamily="34" charset="-122"/>
                <a:cs typeface="Arial" pitchFamily="34" charset="-120"/>
              </a:rPr>
              <a:t>Using Power BI</a:t>
            </a:r>
            <a:endParaRPr lang="en-US" sz="1800" dirty="0"/>
          </a:p>
        </p:txBody>
      </p:sp>
      <p:pic>
        <p:nvPicPr>
          <p:cNvPr id="11" name="Image 1" descr="/home/claude/work/assets/global_retail.png"/>
          <p:cNvPicPr>
            <a:picLocks noChangeAspect="1"/>
          </p:cNvPicPr>
          <p:nvPr/>
        </p:nvPicPr>
        <p:blipFill>
          <a:blip r:embed="rId4"/>
          <a:stretch>
            <a:fillRect/>
          </a:stretch>
        </p:blipFill>
        <p:spPr>
          <a:xfrm>
            <a:off x="8869680" y="1920240"/>
            <a:ext cx="2651760" cy="3063240"/>
          </a:xfrm>
          <a:prstGeom prst="rect">
            <a:avLst/>
          </a:prstGeom>
        </p:spPr>
      </p:pic>
      <p:sp>
        <p:nvSpPr>
          <p:cNvPr id="12" name="Text 8"/>
          <p:cNvSpPr/>
          <p:nvPr/>
        </p:nvSpPr>
        <p:spPr>
          <a:xfrm>
            <a:off x="2590800" y="4160520"/>
            <a:ext cx="4358640" cy="411480"/>
          </a:xfrm>
          <a:prstGeom prst="rect">
            <a:avLst/>
          </a:prstGeom>
          <a:noFill/>
          <a:ln/>
        </p:spPr>
        <p:txBody>
          <a:bodyPr wrap="square" rtlCol="0" anchor="ctr"/>
          <a:lstStyle/>
          <a:p>
            <a:pPr marL="0" indent="0">
              <a:buNone/>
            </a:pPr>
            <a:r>
              <a:rPr lang="en-US" sz="1300" i="1" dirty="0">
                <a:solidFill>
                  <a:srgbClr val="5A5A5A"/>
                </a:solidFill>
                <a:latin typeface="Arial" pitchFamily="34" charset="0"/>
                <a:ea typeface="Arial" pitchFamily="34" charset="-122"/>
                <a:cs typeface="Arial" pitchFamily="34" charset="-120"/>
              </a:rPr>
              <a:t>Prepared By: Velagada Dayana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Project Overview</a:t>
            </a:r>
            <a:endParaRPr lang="en-US" sz="2600" dirty="0"/>
          </a:p>
        </p:txBody>
      </p:sp>
      <p:sp>
        <p:nvSpPr>
          <p:cNvPr id="3" name="Text 1"/>
          <p:cNvSpPr/>
          <p:nvPr/>
        </p:nvSpPr>
        <p:spPr>
          <a:xfrm>
            <a:off x="548640" y="2732048"/>
            <a:ext cx="10908792" cy="3394431"/>
          </a:xfrm>
          <a:prstGeom prst="rect">
            <a:avLst/>
          </a:prstGeom>
          <a:noFill/>
          <a:ln/>
        </p:spPr>
        <p:txBody>
          <a:bodyPr wrap="square" rtlCol="0" anchor="t"/>
          <a:lstStyle/>
          <a:p>
            <a:pPr marL="285750" indent="-285750">
              <a:spcAft>
                <a:spcPts val="2000"/>
              </a:spcAft>
              <a:buSzPct val="100000"/>
              <a:buFont typeface="Wingdings" panose="05000000000000000000" pitchFamily="2" charset="2"/>
              <a:buChar char="ü"/>
            </a:pPr>
            <a:r>
              <a:rPr lang="en-IN" dirty="0"/>
              <a:t>Developed an interactive </a:t>
            </a:r>
            <a:r>
              <a:rPr lang="en-IN" b="1" dirty="0"/>
              <a:t>Global Retail Sales Dashboard using Power BI</a:t>
            </a:r>
          </a:p>
          <a:p>
            <a:pPr marL="285750" indent="-285750">
              <a:spcAft>
                <a:spcPts val="2000"/>
              </a:spcAft>
              <a:buSzPct val="100000"/>
              <a:buFont typeface="Wingdings" panose="05000000000000000000" pitchFamily="2" charset="2"/>
              <a:buChar char="ü"/>
            </a:pPr>
            <a:r>
              <a:rPr lang="en-IN" dirty="0"/>
              <a:t>Analyzed sales data across different </a:t>
            </a:r>
            <a:r>
              <a:rPr lang="en-IN" b="1" dirty="0"/>
              <a:t>regions, categories, and customer segments</a:t>
            </a:r>
            <a:r>
              <a:rPr lang="en-IN" dirty="0"/>
              <a:t>.</a:t>
            </a:r>
          </a:p>
          <a:p>
            <a:pPr marL="285750" indent="-285750">
              <a:spcAft>
                <a:spcPts val="2000"/>
              </a:spcAft>
              <a:buSzPct val="100000"/>
              <a:buFont typeface="Wingdings" panose="05000000000000000000" pitchFamily="2" charset="2"/>
              <a:buChar char="ü"/>
            </a:pPr>
            <a:r>
              <a:rPr lang="en-IN" dirty="0"/>
              <a:t>Evaluated </a:t>
            </a:r>
            <a:r>
              <a:rPr lang="en-IN" b="1" dirty="0"/>
              <a:t>Sales, Profit, Discounts, Returns, and Shipping Performance</a:t>
            </a:r>
            <a:r>
              <a:rPr lang="en-IN" dirty="0"/>
              <a:t>.</a:t>
            </a:r>
          </a:p>
          <a:p>
            <a:pPr marL="285750" indent="-285750">
              <a:spcAft>
                <a:spcPts val="2000"/>
              </a:spcAft>
              <a:buSzPct val="100000"/>
              <a:buFont typeface="Wingdings" panose="05000000000000000000" pitchFamily="2" charset="2"/>
              <a:buChar char="ü"/>
            </a:pPr>
            <a:r>
              <a:rPr lang="en-IN" dirty="0"/>
              <a:t>Identified </a:t>
            </a:r>
            <a:r>
              <a:rPr lang="en-IN" b="1" dirty="0"/>
              <a:t>high- and low-performing regions, products, and customer segments</a:t>
            </a:r>
            <a:r>
              <a:rPr lang="en-IN" dirty="0"/>
              <a:t>.</a:t>
            </a:r>
          </a:p>
          <a:p>
            <a:pPr marL="285750" indent="-285750">
              <a:spcAft>
                <a:spcPts val="2000"/>
              </a:spcAft>
              <a:buSzPct val="100000"/>
              <a:buFont typeface="Wingdings" panose="05000000000000000000" pitchFamily="2" charset="2"/>
              <a:buChar char="ü"/>
            </a:pPr>
            <a:r>
              <a:rPr lang="en-IN" dirty="0"/>
              <a:t>Created interactive </a:t>
            </a:r>
            <a:r>
              <a:rPr lang="en-IN" b="1" dirty="0"/>
              <a:t>KPIs, charts, and slicers</a:t>
            </a:r>
            <a:r>
              <a:rPr lang="en-IN" dirty="0"/>
              <a:t> to support business decision-making.</a:t>
            </a:r>
          </a:p>
          <a:p>
            <a:pPr marL="285750" indent="-285750">
              <a:spcAft>
                <a:spcPts val="2000"/>
              </a:spcAft>
              <a:buSzPct val="100000"/>
              <a:buFont typeface="Wingdings" panose="05000000000000000000" pitchFamily="2" charset="2"/>
              <a:buChar char="ü"/>
            </a:pPr>
            <a:r>
              <a:rPr lang="en-IN" dirty="0"/>
              <a:t>The dashboard helps management make </a:t>
            </a:r>
            <a:r>
              <a:rPr lang="en-IN" b="1" dirty="0"/>
              <a:t>data-driven decisions and improve profitability</a:t>
            </a:r>
            <a:r>
              <a:rPr lang="en-IN" dirty="0"/>
              <a:t>.</a:t>
            </a:r>
          </a:p>
        </p:txBody>
      </p:sp>
      <p:sp>
        <p:nvSpPr>
          <p:cNvPr id="4" name="Shape 2"/>
          <p:cNvSpPr/>
          <p:nvPr/>
        </p:nvSpPr>
        <p:spPr>
          <a:xfrm>
            <a:off x="10680192" y="6400800"/>
            <a:ext cx="1371600" cy="420624"/>
          </a:xfrm>
          <a:prstGeom prst="rect">
            <a:avLst/>
          </a:prstGeom>
          <a:solidFill>
            <a:srgbClr val="FFFFFF"/>
          </a:solidFill>
          <a:ln/>
        </p:spPr>
        <p:txBody>
          <a:bodyPr/>
          <a:lstStyle/>
          <a:p>
            <a:endParaRPr lang="en-IN"/>
          </a:p>
        </p:txBody>
      </p:sp>
      <p:pic>
        <p:nvPicPr>
          <p:cNvPr id="5"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
        <p:nvSpPr>
          <p:cNvPr id="9" name="Shape 1">
            <a:extLst>
              <a:ext uri="{FF2B5EF4-FFF2-40B4-BE49-F238E27FC236}">
                <a16:creationId xmlns:a16="http://schemas.microsoft.com/office/drawing/2014/main" id="{86307683-0D4C-CDDD-BEA4-03E0A040511A}"/>
              </a:ext>
            </a:extLst>
          </p:cNvPr>
          <p:cNvSpPr/>
          <p:nvPr/>
        </p:nvSpPr>
        <p:spPr>
          <a:xfrm>
            <a:off x="548640" y="1179572"/>
            <a:ext cx="10725912" cy="1051560"/>
          </a:xfrm>
          <a:prstGeom prst="rect">
            <a:avLst/>
          </a:prstGeom>
          <a:solidFill>
            <a:srgbClr val="F5F5F5"/>
          </a:solidFill>
          <a:ln/>
        </p:spPr>
        <p:txBody>
          <a:bodyPr/>
          <a:lstStyle/>
          <a:p>
            <a:r>
              <a:rPr lang="en-IN" sz="1600" b="1" i="1" dirty="0">
                <a:solidFill>
                  <a:schemeClr val="tx2"/>
                </a:solidFill>
                <a:latin typeface="Arial" panose="020B0604020202020204" pitchFamily="34" charset="0"/>
                <a:cs typeface="Arial" panose="020B0604020202020204" pitchFamily="34" charset="0"/>
              </a:rPr>
              <a:t>This project focuses on analyzing global retail sales data using Power BI. I analyzed sales, profit, discounts, returns, products, customers, and shipping performance. The dashboard provides useful insights into business performance and helps management make better data-driven decisions</a:t>
            </a:r>
            <a:r>
              <a:rPr lang="en-IN" sz="1400" b="1" i="1" dirty="0">
                <a:latin typeface="Arial" panose="020B0604020202020204" pitchFamily="34" charset="0"/>
                <a:cs typeface="Arial" panose="020B0604020202020204" pitchFamily="34"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6770" y="320040"/>
            <a:ext cx="10993541"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Business Problem</a:t>
            </a:r>
            <a:endParaRPr lang="en-US" sz="2600" dirty="0"/>
          </a:p>
        </p:txBody>
      </p:sp>
      <p:sp>
        <p:nvSpPr>
          <p:cNvPr id="4" name="Text 2"/>
          <p:cNvSpPr/>
          <p:nvPr/>
        </p:nvSpPr>
        <p:spPr>
          <a:xfrm>
            <a:off x="548640" y="2910468"/>
            <a:ext cx="9364794" cy="2731380"/>
          </a:xfrm>
          <a:prstGeom prst="rect">
            <a:avLst/>
          </a:prstGeom>
          <a:noFill/>
          <a:ln/>
        </p:spPr>
        <p:txBody>
          <a:bodyPr wrap="square" rtlCol="0" anchor="ctr"/>
          <a:lstStyle/>
          <a:p>
            <a:pPr marL="342900" lvl="0" indent="-342900">
              <a:buFont typeface="Wingdings" panose="05000000000000000000" pitchFamily="2" charset="2"/>
              <a:buChar char="ü"/>
            </a:pPr>
            <a:r>
              <a:rPr lang="en-IN" dirty="0"/>
              <a:t>Profit performance varies across different </a:t>
            </a:r>
            <a:r>
              <a:rPr lang="en-IN" b="1" dirty="0"/>
              <a:t>regions</a:t>
            </a:r>
            <a:r>
              <a:rPr lang="en-IN" dirty="0"/>
              <a:t>.</a:t>
            </a:r>
          </a:p>
          <a:p>
            <a:pPr marL="285750" lvl="0" indent="-285750">
              <a:buFont typeface="Wingdings" panose="05000000000000000000" pitchFamily="2" charset="2"/>
              <a:buChar char="ü"/>
            </a:pPr>
            <a:endParaRPr lang="en-IN" dirty="0"/>
          </a:p>
          <a:p>
            <a:pPr marL="285750" lvl="0" indent="-285750">
              <a:buFont typeface="Wingdings" panose="05000000000000000000" pitchFamily="2" charset="2"/>
              <a:buChar char="ü"/>
            </a:pPr>
            <a:r>
              <a:rPr lang="en-IN" dirty="0"/>
              <a:t>High </a:t>
            </a:r>
            <a:r>
              <a:rPr lang="en-IN" b="1" dirty="0"/>
              <a:t>discounts</a:t>
            </a:r>
            <a:r>
              <a:rPr lang="en-IN" dirty="0"/>
              <a:t> may reduce overall profit.</a:t>
            </a:r>
          </a:p>
          <a:p>
            <a:pPr marL="285750" lvl="0" indent="-285750">
              <a:buFont typeface="Wingdings" panose="05000000000000000000" pitchFamily="2" charset="2"/>
              <a:buChar char="ü"/>
            </a:pPr>
            <a:endParaRPr lang="en-IN" dirty="0"/>
          </a:p>
          <a:p>
            <a:pPr marL="285750" lvl="0" indent="-285750">
              <a:buFont typeface="Wingdings" panose="05000000000000000000" pitchFamily="2" charset="2"/>
              <a:buChar char="ü"/>
            </a:pPr>
            <a:r>
              <a:rPr lang="en-IN" dirty="0"/>
              <a:t>Some </a:t>
            </a:r>
            <a:r>
              <a:rPr lang="en-IN" b="1" dirty="0"/>
              <a:t>customer segments</a:t>
            </a:r>
            <a:r>
              <a:rPr lang="en-IN" dirty="0"/>
              <a:t> contribute more profit than others.</a:t>
            </a:r>
          </a:p>
          <a:p>
            <a:pPr marL="285750" lvl="0" indent="-285750">
              <a:buFont typeface="Wingdings" panose="05000000000000000000" pitchFamily="2" charset="2"/>
              <a:buChar char="ü"/>
            </a:pPr>
            <a:endParaRPr lang="en-IN" dirty="0"/>
          </a:p>
          <a:p>
            <a:pPr marL="285750" lvl="0" indent="-285750">
              <a:buFont typeface="Wingdings" panose="05000000000000000000" pitchFamily="2" charset="2"/>
              <a:buChar char="ü"/>
            </a:pPr>
            <a:r>
              <a:rPr lang="en-IN" b="1" dirty="0"/>
              <a:t>Returned orders</a:t>
            </a:r>
            <a:r>
              <a:rPr lang="en-IN" dirty="0"/>
              <a:t> can affect sales and profitability.</a:t>
            </a:r>
          </a:p>
          <a:p>
            <a:pPr marL="285750" lvl="0" indent="-285750">
              <a:buFont typeface="Wingdings" panose="05000000000000000000" pitchFamily="2" charset="2"/>
              <a:buChar char="ü"/>
            </a:pPr>
            <a:endParaRPr lang="en-IN" dirty="0"/>
          </a:p>
          <a:p>
            <a:pPr marL="285750" lvl="0" indent="-285750">
              <a:buFont typeface="Wingdings" panose="05000000000000000000" pitchFamily="2" charset="2"/>
              <a:buChar char="ü"/>
            </a:pPr>
            <a:r>
              <a:rPr lang="en-IN" dirty="0"/>
              <a:t>Some </a:t>
            </a:r>
            <a:r>
              <a:rPr lang="en-IN" b="1" dirty="0"/>
              <a:t>products and categories</a:t>
            </a:r>
            <a:r>
              <a:rPr lang="en-IN" dirty="0"/>
              <a:t> generate more revenue than others.</a:t>
            </a:r>
          </a:p>
          <a:p>
            <a:pPr marL="285750" lvl="0" indent="-285750">
              <a:buFont typeface="Wingdings" panose="05000000000000000000" pitchFamily="2" charset="2"/>
              <a:buChar char="ü"/>
            </a:pPr>
            <a:endParaRPr lang="en-IN" dirty="0"/>
          </a:p>
          <a:p>
            <a:pPr marL="285750" lvl="0" indent="-285750">
              <a:buFont typeface="Wingdings" panose="05000000000000000000" pitchFamily="2" charset="2"/>
              <a:buChar char="ü"/>
            </a:pPr>
            <a:r>
              <a:rPr lang="en-IN" dirty="0"/>
              <a:t>Different </a:t>
            </a:r>
            <a:r>
              <a:rPr lang="en-IN" b="1" dirty="0"/>
              <a:t>shipping modes</a:t>
            </a:r>
            <a:r>
              <a:rPr lang="en-IN" dirty="0"/>
              <a:t> have different costs and profitability.</a:t>
            </a:r>
          </a:p>
          <a:p>
            <a:pPr marL="285750" lvl="0" indent="-285750">
              <a:buFont typeface="Wingdings" panose="05000000000000000000" pitchFamily="2" charset="2"/>
              <a:buChar char="ü"/>
            </a:pPr>
            <a:endParaRPr lang="en-IN" b="1" dirty="0"/>
          </a:p>
          <a:p>
            <a:pPr marL="285750" lvl="0" indent="-285750">
              <a:buFont typeface="Wingdings" panose="05000000000000000000" pitchFamily="2" charset="2"/>
              <a:buChar char="ü"/>
            </a:pPr>
            <a:r>
              <a:rPr lang="en-IN" b="1" dirty="0"/>
              <a:t>Regional manager performance</a:t>
            </a:r>
            <a:r>
              <a:rPr lang="en-IN" dirty="0"/>
              <a:t> may vary across locations.</a:t>
            </a:r>
          </a:p>
        </p:txBody>
      </p:sp>
      <p:sp>
        <p:nvSpPr>
          <p:cNvPr id="5" name="Text 3"/>
          <p:cNvSpPr/>
          <p:nvPr/>
        </p:nvSpPr>
        <p:spPr>
          <a:xfrm>
            <a:off x="2011680" y="1572768"/>
            <a:ext cx="8686800" cy="640080"/>
          </a:xfrm>
          <a:prstGeom prst="rect">
            <a:avLst/>
          </a:prstGeom>
          <a:noFill/>
          <a:ln/>
        </p:spPr>
        <p:txBody>
          <a:bodyPr wrap="square" rtlCol="0" anchor="ctr"/>
          <a:lstStyle/>
          <a:p>
            <a:pPr marL="0" indent="0">
              <a:buNone/>
            </a:pPr>
            <a:endParaRPr lang="en-US" sz="1900" dirty="0"/>
          </a:p>
        </p:txBody>
      </p:sp>
      <p:sp>
        <p:nvSpPr>
          <p:cNvPr id="7" name="Text 5"/>
          <p:cNvSpPr/>
          <p:nvPr/>
        </p:nvSpPr>
        <p:spPr>
          <a:xfrm>
            <a:off x="914400" y="2606040"/>
            <a:ext cx="822960" cy="822960"/>
          </a:xfrm>
          <a:prstGeom prst="rect">
            <a:avLst/>
          </a:prstGeom>
          <a:noFill/>
          <a:ln/>
        </p:spPr>
        <p:txBody>
          <a:bodyPr wrap="square" rtlCol="0" anchor="ctr"/>
          <a:lstStyle/>
          <a:p>
            <a:pPr marL="0" indent="0" algn="ctr">
              <a:buNone/>
            </a:pPr>
            <a:endParaRPr lang="en-US" sz="3000" dirty="0"/>
          </a:p>
        </p:txBody>
      </p:sp>
      <p:sp>
        <p:nvSpPr>
          <p:cNvPr id="8" name="Text 6"/>
          <p:cNvSpPr/>
          <p:nvPr/>
        </p:nvSpPr>
        <p:spPr>
          <a:xfrm>
            <a:off x="2011680" y="2715768"/>
            <a:ext cx="8686800" cy="640080"/>
          </a:xfrm>
          <a:prstGeom prst="rect">
            <a:avLst/>
          </a:prstGeom>
          <a:noFill/>
          <a:ln/>
        </p:spPr>
        <p:txBody>
          <a:bodyPr wrap="square" rtlCol="0" anchor="ctr"/>
          <a:lstStyle/>
          <a:p>
            <a:pPr marL="0" indent="0">
              <a:buNone/>
            </a:pPr>
            <a:endParaRPr lang="en-US" sz="1900" dirty="0"/>
          </a:p>
        </p:txBody>
      </p:sp>
      <p:sp>
        <p:nvSpPr>
          <p:cNvPr id="10" name="Text 8"/>
          <p:cNvSpPr/>
          <p:nvPr/>
        </p:nvSpPr>
        <p:spPr>
          <a:xfrm>
            <a:off x="914400" y="3749040"/>
            <a:ext cx="822960" cy="822960"/>
          </a:xfrm>
          <a:prstGeom prst="rect">
            <a:avLst/>
          </a:prstGeom>
          <a:noFill/>
          <a:ln/>
        </p:spPr>
        <p:txBody>
          <a:bodyPr wrap="square" rtlCol="0" anchor="ctr"/>
          <a:lstStyle/>
          <a:p>
            <a:pPr marL="0" indent="0" algn="ctr">
              <a:buNone/>
            </a:pPr>
            <a:endParaRPr lang="en-US" sz="3000" dirty="0"/>
          </a:p>
        </p:txBody>
      </p:sp>
      <p:sp>
        <p:nvSpPr>
          <p:cNvPr id="11" name="Text 9"/>
          <p:cNvSpPr/>
          <p:nvPr/>
        </p:nvSpPr>
        <p:spPr>
          <a:xfrm>
            <a:off x="2011680" y="3858768"/>
            <a:ext cx="8686800" cy="1335024"/>
          </a:xfrm>
          <a:prstGeom prst="rect">
            <a:avLst/>
          </a:prstGeom>
          <a:noFill/>
          <a:ln/>
        </p:spPr>
        <p:txBody>
          <a:bodyPr wrap="square" rtlCol="0" anchor="ctr"/>
          <a:lstStyle/>
          <a:p>
            <a:pPr marL="0" indent="0">
              <a:buNone/>
            </a:pPr>
            <a:endParaRPr lang="en-US" sz="1900" dirty="0"/>
          </a:p>
        </p:txBody>
      </p:sp>
      <p:sp>
        <p:nvSpPr>
          <p:cNvPr id="13" name="Text 11"/>
          <p:cNvSpPr/>
          <p:nvPr/>
        </p:nvSpPr>
        <p:spPr>
          <a:xfrm>
            <a:off x="914400" y="4892040"/>
            <a:ext cx="822960" cy="822960"/>
          </a:xfrm>
          <a:prstGeom prst="rect">
            <a:avLst/>
          </a:prstGeom>
          <a:noFill/>
          <a:ln/>
        </p:spPr>
        <p:txBody>
          <a:bodyPr wrap="square" rtlCol="0" anchor="ctr"/>
          <a:lstStyle/>
          <a:p>
            <a:pPr marL="0" indent="0" algn="ctr">
              <a:buNone/>
            </a:pPr>
            <a:endParaRPr lang="en-US" sz="3000" dirty="0"/>
          </a:p>
        </p:txBody>
      </p:sp>
      <p:sp>
        <p:nvSpPr>
          <p:cNvPr id="14" name="Text 12"/>
          <p:cNvSpPr/>
          <p:nvPr/>
        </p:nvSpPr>
        <p:spPr>
          <a:xfrm>
            <a:off x="2011680" y="5001768"/>
            <a:ext cx="8686800" cy="640080"/>
          </a:xfrm>
          <a:prstGeom prst="rect">
            <a:avLst/>
          </a:prstGeom>
          <a:noFill/>
          <a:ln/>
        </p:spPr>
        <p:txBody>
          <a:bodyPr wrap="square" rtlCol="0" anchor="ctr"/>
          <a:lstStyle/>
          <a:p>
            <a:pPr marL="0" indent="0">
              <a:buNone/>
            </a:pPr>
            <a:endParaRPr lang="en-US" sz="1900" dirty="0"/>
          </a:p>
        </p:txBody>
      </p:sp>
      <p:sp>
        <p:nvSpPr>
          <p:cNvPr id="15" name="Shape 13"/>
          <p:cNvSpPr/>
          <p:nvPr/>
        </p:nvSpPr>
        <p:spPr>
          <a:xfrm>
            <a:off x="10680192" y="6400800"/>
            <a:ext cx="1371600" cy="420624"/>
          </a:xfrm>
          <a:prstGeom prst="rect">
            <a:avLst/>
          </a:prstGeom>
          <a:solidFill>
            <a:srgbClr val="FFFFFF"/>
          </a:solidFill>
          <a:ln/>
        </p:spPr>
        <p:txBody>
          <a:bodyPr/>
          <a:lstStyle/>
          <a:p>
            <a:endParaRPr lang="en-IN"/>
          </a:p>
        </p:txBody>
      </p:sp>
      <p:pic>
        <p:nvPicPr>
          <p:cNvPr id="16"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
        <p:nvSpPr>
          <p:cNvPr id="17" name="Text 14"/>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sp>
        <p:nvSpPr>
          <p:cNvPr id="20" name="Shape 1">
            <a:extLst>
              <a:ext uri="{FF2B5EF4-FFF2-40B4-BE49-F238E27FC236}">
                <a16:creationId xmlns:a16="http://schemas.microsoft.com/office/drawing/2014/main" id="{68B6B28E-3A81-16C0-64A2-3E72832A8C78}"/>
              </a:ext>
            </a:extLst>
          </p:cNvPr>
          <p:cNvSpPr/>
          <p:nvPr/>
        </p:nvSpPr>
        <p:spPr>
          <a:xfrm>
            <a:off x="646770" y="1129284"/>
            <a:ext cx="10810662" cy="1051560"/>
          </a:xfrm>
          <a:prstGeom prst="rect">
            <a:avLst/>
          </a:prstGeom>
          <a:solidFill>
            <a:srgbClr val="F5F5F5"/>
          </a:solidFill>
          <a:ln/>
        </p:spPr>
        <p:txBody>
          <a:bodyPr/>
          <a:lstStyle/>
          <a:p>
            <a:r>
              <a:rPr lang="en-IN" sz="1600" b="1" i="1" dirty="0">
                <a:solidFill>
                  <a:schemeClr val="tx2"/>
                </a:solidFill>
                <a:latin typeface="Arial" panose="020B0604020202020204" pitchFamily="34" charset="0"/>
                <a:cs typeface="Arial" panose="020B0604020202020204" pitchFamily="34" charset="0"/>
              </a:rPr>
              <a:t>The company has a large amount of sales data, but it needs to understand where it is making profit and where it is facing problems. The main challenges are differences in regional profit, discounts, returns, product performance, shipping costs, and regional manager 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Objective of the Project</a:t>
            </a:r>
            <a:endParaRPr lang="en-US" sz="2600" dirty="0"/>
          </a:p>
        </p:txBody>
      </p:sp>
      <p:sp>
        <p:nvSpPr>
          <p:cNvPr id="3" name="Shape 1"/>
          <p:cNvSpPr/>
          <p:nvPr/>
        </p:nvSpPr>
        <p:spPr>
          <a:xfrm>
            <a:off x="471697" y="1143000"/>
            <a:ext cx="10725912" cy="1051560"/>
          </a:xfrm>
          <a:prstGeom prst="rect">
            <a:avLst/>
          </a:prstGeom>
          <a:solidFill>
            <a:srgbClr val="F5F5F5"/>
          </a:solidFill>
          <a:ln/>
        </p:spPr>
        <p:txBody>
          <a:bodyPr/>
          <a:lstStyle/>
          <a:p>
            <a:endParaRPr lang="en-IN" dirty="0"/>
          </a:p>
        </p:txBody>
      </p:sp>
      <p:sp>
        <p:nvSpPr>
          <p:cNvPr id="4" name="Text 2"/>
          <p:cNvSpPr/>
          <p:nvPr/>
        </p:nvSpPr>
        <p:spPr>
          <a:xfrm>
            <a:off x="548640" y="1325880"/>
            <a:ext cx="10680192" cy="603281"/>
          </a:xfrm>
          <a:prstGeom prst="rect">
            <a:avLst/>
          </a:prstGeom>
          <a:noFill/>
          <a:ln/>
        </p:spPr>
        <p:txBody>
          <a:bodyPr wrap="square" rtlCol="0" anchor="ctr"/>
          <a:lstStyle/>
          <a:p>
            <a:pPr marL="0" indent="0">
              <a:buNone/>
            </a:pPr>
            <a:r>
              <a:rPr lang="en-US" sz="1600" b="1" i="1" dirty="0">
                <a:solidFill>
                  <a:schemeClr val="tx2"/>
                </a:solidFill>
                <a:latin typeface="Arial" pitchFamily="34" charset="0"/>
                <a:ea typeface="Arial" pitchFamily="34" charset="-122"/>
                <a:cs typeface="Arial" pitchFamily="34" charset="-120"/>
              </a:rPr>
              <a:t>Analyze sales, profit, returns, and regional performance using Power BI to support data-driven decisions.</a:t>
            </a:r>
            <a:endParaRPr lang="en-US" sz="1600" dirty="0">
              <a:solidFill>
                <a:schemeClr val="tx2"/>
              </a:solidFill>
            </a:endParaRPr>
          </a:p>
        </p:txBody>
      </p:sp>
      <p:sp>
        <p:nvSpPr>
          <p:cNvPr id="5" name="Text 3"/>
          <p:cNvSpPr/>
          <p:nvPr/>
        </p:nvSpPr>
        <p:spPr>
          <a:xfrm>
            <a:off x="548640" y="2377440"/>
            <a:ext cx="10780553" cy="5074920"/>
          </a:xfrm>
          <a:prstGeom prst="rect">
            <a:avLst/>
          </a:prstGeom>
          <a:noFill/>
          <a:ln/>
        </p:spPr>
        <p:txBody>
          <a:bodyPr wrap="square" rtlCol="0" anchor="t"/>
          <a:lstStyle/>
          <a:p>
            <a:pPr marL="285750" indent="-285750">
              <a:spcAft>
                <a:spcPts val="1600"/>
              </a:spcAft>
              <a:buSzPct val="100000"/>
              <a:buFont typeface="Wingdings" panose="05000000000000000000" pitchFamily="2" charset="2"/>
              <a:buChar char="ü"/>
            </a:pPr>
            <a:r>
              <a:rPr lang="en-US" dirty="0">
                <a:solidFill>
                  <a:srgbClr val="1A1A1A"/>
                </a:solidFill>
                <a:ea typeface="Arial" pitchFamily="34" charset="-122"/>
                <a:cs typeface="Arial" panose="020B0604020202020204" pitchFamily="34" charset="0"/>
              </a:rPr>
              <a:t>Identify which regions and segments drive the most profit</a:t>
            </a:r>
            <a:endParaRPr lang="en-US" dirty="0">
              <a:cs typeface="Arial" panose="020B0604020202020204" pitchFamily="34" charset="0"/>
            </a:endParaRPr>
          </a:p>
          <a:p>
            <a:pPr marL="285750" indent="-285750">
              <a:spcAft>
                <a:spcPts val="1600"/>
              </a:spcAft>
              <a:buSzPct val="100000"/>
              <a:buFont typeface="Wingdings" panose="05000000000000000000" pitchFamily="2" charset="2"/>
              <a:buChar char="ü"/>
            </a:pPr>
            <a:r>
              <a:rPr lang="en-US" dirty="0">
                <a:solidFill>
                  <a:srgbClr val="1A1A1A"/>
                </a:solidFill>
                <a:ea typeface="Arial" pitchFamily="34" charset="-122"/>
                <a:cs typeface="Arial" panose="020B0604020202020204" pitchFamily="34" charset="0"/>
              </a:rPr>
              <a:t>Quantify how discounts and returns affect profitability</a:t>
            </a:r>
            <a:endParaRPr lang="en-US" dirty="0">
              <a:cs typeface="Arial" panose="020B0604020202020204" pitchFamily="34" charset="0"/>
            </a:endParaRPr>
          </a:p>
          <a:p>
            <a:pPr marL="285750" indent="-285750">
              <a:spcAft>
                <a:spcPts val="1600"/>
              </a:spcAft>
              <a:buSzPct val="100000"/>
              <a:buFont typeface="Wingdings" panose="05000000000000000000" pitchFamily="2" charset="2"/>
              <a:buChar char="ü"/>
            </a:pPr>
            <a:r>
              <a:rPr lang="en-US" dirty="0">
                <a:solidFill>
                  <a:srgbClr val="1A1A1A"/>
                </a:solidFill>
                <a:ea typeface="Arial" pitchFamily="34" charset="-122"/>
                <a:cs typeface="Arial" panose="020B0604020202020204" pitchFamily="34" charset="0"/>
              </a:rPr>
              <a:t>Track actual sales against regional targets</a:t>
            </a:r>
            <a:endParaRPr lang="en-US" dirty="0">
              <a:cs typeface="Arial" panose="020B0604020202020204" pitchFamily="34" charset="0"/>
            </a:endParaRPr>
          </a:p>
          <a:p>
            <a:pPr marL="285750" indent="-285750">
              <a:spcAft>
                <a:spcPts val="1600"/>
              </a:spcAft>
              <a:buSzPct val="100000"/>
              <a:buFont typeface="Wingdings" panose="05000000000000000000" pitchFamily="2" charset="2"/>
              <a:buChar char="ü"/>
            </a:pPr>
            <a:r>
              <a:rPr lang="en-US" dirty="0">
                <a:solidFill>
                  <a:srgbClr val="1A1A1A"/>
                </a:solidFill>
                <a:ea typeface="Arial" pitchFamily="34" charset="-122"/>
                <a:cs typeface="Arial" panose="020B0604020202020204" pitchFamily="34" charset="0"/>
              </a:rPr>
              <a:t>Enable drill-through analysis from Region → Product → Customer</a:t>
            </a:r>
            <a:endParaRPr lang="en-US" dirty="0">
              <a:cs typeface="Arial" panose="020B0604020202020204" pitchFamily="34" charset="0"/>
            </a:endParaRPr>
          </a:p>
          <a:p>
            <a:pPr marL="285750" indent="-285750">
              <a:spcAft>
                <a:spcPts val="1600"/>
              </a:spcAft>
              <a:buSzPct val="100000"/>
              <a:buFont typeface="Wingdings" panose="05000000000000000000" pitchFamily="2" charset="2"/>
              <a:buChar char="ü"/>
            </a:pPr>
            <a:r>
              <a:rPr lang="en-US" dirty="0">
                <a:solidFill>
                  <a:srgbClr val="1A1A1A"/>
                </a:solidFill>
                <a:ea typeface="Arial" pitchFamily="34" charset="-122"/>
                <a:cs typeface="Arial" panose="020B0604020202020204" pitchFamily="34" charset="0"/>
              </a:rPr>
              <a:t>Give regional managers a single source of truth for performance</a:t>
            </a:r>
            <a:endParaRPr lang="en-US" dirty="0">
              <a:cs typeface="Arial" panose="020B0604020202020204" pitchFamily="34" charset="0"/>
            </a:endParaRPr>
          </a:p>
        </p:txBody>
      </p:sp>
      <p:sp>
        <p:nvSpPr>
          <p:cNvPr id="6" name="Shape 4"/>
          <p:cNvSpPr/>
          <p:nvPr/>
        </p:nvSpPr>
        <p:spPr>
          <a:xfrm>
            <a:off x="10680192" y="6400800"/>
            <a:ext cx="1371600" cy="420624"/>
          </a:xfrm>
          <a:prstGeom prst="rect">
            <a:avLst/>
          </a:prstGeom>
          <a:solidFill>
            <a:srgbClr val="FFFFFF"/>
          </a:solidFill>
          <a:ln/>
        </p:spPr>
        <p:txBody>
          <a:bodyPr/>
          <a:lstStyle/>
          <a:p>
            <a:endParaRPr lang="en-IN"/>
          </a:p>
        </p:txBody>
      </p:sp>
      <p:pic>
        <p:nvPicPr>
          <p:cNvPr id="7"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
        <p:nvSpPr>
          <p:cNvPr id="8" name="Text 5"/>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Datasets Provided</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2505998408"/>
              </p:ext>
            </p:extLst>
          </p:nvPr>
        </p:nvGraphicFramePr>
        <p:xfrm>
          <a:off x="731520" y="1371600"/>
          <a:ext cx="10725912" cy="2926080"/>
        </p:xfrm>
        <a:graphic>
          <a:graphicData uri="http://schemas.openxmlformats.org/drawingml/2006/table">
            <a:tbl>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7251192">
                  <a:extLst>
                    <a:ext uri="{9D8B030D-6E8A-4147-A177-3AD203B41FA5}">
                      <a16:colId xmlns:a16="http://schemas.microsoft.com/office/drawing/2014/main" val="20002"/>
                    </a:ext>
                  </a:extLst>
                </a:gridCol>
              </a:tblGrid>
              <a:tr h="731520">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Table</a:t>
                      </a:r>
                      <a:endParaRPr lang="en-US" sz="140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1E3A5F"/>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Type</a:t>
                      </a:r>
                      <a:endParaRPr lang="en-US" sz="140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1E3A5F"/>
                    </a:solidFill>
                  </a:tcPr>
                </a:tc>
                <a:tc>
                  <a:txBody>
                    <a:bodyPr/>
                    <a:lstStyle/>
                    <a:p>
                      <a:pPr marL="0" indent="0" algn="ctr">
                        <a:buNone/>
                      </a:pPr>
                      <a:r>
                        <a:rPr lang="en-US" sz="1400" b="1" dirty="0">
                          <a:solidFill>
                            <a:srgbClr val="FFFFFF"/>
                          </a:solidFill>
                          <a:latin typeface="Arial" pitchFamily="34" charset="0"/>
                          <a:ea typeface="Arial" pitchFamily="34" charset="-122"/>
                          <a:cs typeface="Arial" pitchFamily="34" charset="-120"/>
                        </a:rPr>
                        <a:t>Purpose</a:t>
                      </a:r>
                      <a:endParaRPr lang="en-US" sz="140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731520">
                <a:tc>
                  <a:txBody>
                    <a:bodyPr/>
                    <a:lstStyle/>
                    <a:p>
                      <a:pPr marL="0" indent="0" algn="l">
                        <a:buNone/>
                      </a:pPr>
                      <a:r>
                        <a:rPr lang="en-US" sz="1350" dirty="0">
                          <a:solidFill>
                            <a:srgbClr val="1A1A1A"/>
                          </a:solidFill>
                          <a:latin typeface="Arial" pitchFamily="34" charset="0"/>
                          <a:ea typeface="Arial" pitchFamily="34" charset="-122"/>
                          <a:cs typeface="Arial" pitchFamily="34" charset="-120"/>
                        </a:rPr>
                        <a:t>Orders</a:t>
                      </a:r>
                      <a:endParaRPr lang="en-US" sz="135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A1A1A"/>
                          </a:solidFill>
                          <a:latin typeface="Arial" pitchFamily="34" charset="0"/>
                          <a:ea typeface="Arial" pitchFamily="34" charset="-122"/>
                          <a:cs typeface="Arial" pitchFamily="34" charset="-120"/>
                        </a:rPr>
                        <a:t>Fact Table</a:t>
                      </a:r>
                      <a:endParaRPr lang="en-US" sz="135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A1A1A"/>
                          </a:solidFill>
                          <a:latin typeface="Arial" pitchFamily="34" charset="0"/>
                          <a:ea typeface="Arial" pitchFamily="34" charset="-122"/>
                          <a:cs typeface="Arial" pitchFamily="34" charset="-120"/>
                        </a:rPr>
                        <a:t>Contains all sales transactions — order, ship, customer, product, sales, profit, discount, and quantity details</a:t>
                      </a:r>
                      <a:endParaRPr lang="en-US" sz="135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350" dirty="0">
                          <a:solidFill>
                            <a:srgbClr val="1A1A1A"/>
                          </a:solidFill>
                          <a:latin typeface="Arial" pitchFamily="34" charset="0"/>
                          <a:ea typeface="Arial" pitchFamily="34" charset="-122"/>
                          <a:cs typeface="Arial" pitchFamily="34" charset="-120"/>
                        </a:rPr>
                        <a:t>Returns</a:t>
                      </a:r>
                      <a:endParaRPr lang="en-US" sz="135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350" dirty="0">
                          <a:solidFill>
                            <a:srgbClr val="1A1A1A"/>
                          </a:solidFill>
                          <a:latin typeface="Arial" pitchFamily="34" charset="0"/>
                          <a:ea typeface="Arial" pitchFamily="34" charset="-122"/>
                          <a:cs typeface="Arial" pitchFamily="34" charset="-120"/>
                        </a:rPr>
                        <a:t>Dimension Table</a:t>
                      </a:r>
                      <a:endParaRPr lang="en-US" sz="135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350" dirty="0">
                          <a:solidFill>
                            <a:srgbClr val="1A1A1A"/>
                          </a:solidFill>
                          <a:latin typeface="Arial" pitchFamily="34" charset="0"/>
                          <a:ea typeface="Arial" pitchFamily="34" charset="-122"/>
                          <a:cs typeface="Arial" pitchFamily="34" charset="-120"/>
                        </a:rPr>
                        <a:t>Identifies which orders were returned (Order ID, Returned Yes/No, Market)</a:t>
                      </a:r>
                      <a:endParaRPr lang="en-US" sz="135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31520">
                <a:tc>
                  <a:txBody>
                    <a:bodyPr/>
                    <a:lstStyle/>
                    <a:p>
                      <a:pPr marL="0" indent="0" algn="l">
                        <a:buNone/>
                      </a:pPr>
                      <a:r>
                        <a:rPr lang="en-US" sz="1350" dirty="0">
                          <a:solidFill>
                            <a:srgbClr val="1A1A1A"/>
                          </a:solidFill>
                          <a:latin typeface="Arial" pitchFamily="34" charset="0"/>
                          <a:ea typeface="Arial" pitchFamily="34" charset="-122"/>
                          <a:cs typeface="Arial" pitchFamily="34" charset="-120"/>
                        </a:rPr>
                        <a:t>People</a:t>
                      </a:r>
                      <a:endParaRPr lang="en-US" sz="135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A1A1A"/>
                          </a:solidFill>
                          <a:latin typeface="Arial" pitchFamily="34" charset="0"/>
                          <a:ea typeface="Arial" pitchFamily="34" charset="-122"/>
                          <a:cs typeface="Arial" pitchFamily="34" charset="-120"/>
                        </a:rPr>
                        <a:t>Dimension Table</a:t>
                      </a:r>
                      <a:endParaRPr lang="en-US" sz="135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A1A1A"/>
                          </a:solidFill>
                          <a:latin typeface="Arial" pitchFamily="34" charset="0"/>
                          <a:ea typeface="Arial" pitchFamily="34" charset="-122"/>
                          <a:cs typeface="Arial" pitchFamily="34" charset="-120"/>
                        </a:rPr>
                        <a:t>Assigns a sales manager to each Region</a:t>
                      </a:r>
                      <a:endParaRPr lang="en-US" sz="1350" dirty="0">
                        <a:latin typeface="Arial" charset="0"/>
                        <a:ea typeface="Arial" charset="0"/>
                        <a:cs typeface="Arial" charset="0"/>
                      </a:endParaRPr>
                    </a:p>
                  </a:txBody>
                  <a:tcPr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4" name="Text 1"/>
          <p:cNvSpPr/>
          <p:nvPr/>
        </p:nvSpPr>
        <p:spPr>
          <a:xfrm>
            <a:off x="731520" y="4526280"/>
            <a:ext cx="10725912" cy="365760"/>
          </a:xfrm>
          <a:prstGeom prst="rect">
            <a:avLst/>
          </a:prstGeom>
          <a:noFill/>
          <a:ln/>
        </p:spPr>
        <p:txBody>
          <a:bodyPr wrap="square" rtlCol="0" anchor="ctr"/>
          <a:lstStyle/>
          <a:p>
            <a:pPr marL="0" indent="0">
              <a:buNone/>
            </a:pPr>
            <a:endParaRPr lang="en-US" sz="1250" dirty="0"/>
          </a:p>
        </p:txBody>
      </p:sp>
      <p:sp>
        <p:nvSpPr>
          <p:cNvPr id="5" name="Shape 2"/>
          <p:cNvSpPr/>
          <p:nvPr/>
        </p:nvSpPr>
        <p:spPr>
          <a:xfrm>
            <a:off x="10680192" y="6400800"/>
            <a:ext cx="1371600" cy="420624"/>
          </a:xfrm>
          <a:prstGeom prst="rect">
            <a:avLst/>
          </a:prstGeom>
          <a:solidFill>
            <a:srgbClr val="FFFFFF"/>
          </a:solidFill>
          <a:ln/>
        </p:spPr>
        <p:txBody>
          <a:bodyPr/>
          <a:lstStyle/>
          <a:p>
            <a:endParaRPr lang="en-IN"/>
          </a:p>
        </p:txBody>
      </p:sp>
      <p:pic>
        <p:nvPicPr>
          <p:cNvPr id="3"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
        <p:nvSpPr>
          <p:cNvPr id="7" name="Text 3"/>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Data Cleaning &amp; Transformation</a:t>
            </a:r>
            <a:endParaRPr lang="en-US" sz="2600" dirty="0"/>
          </a:p>
        </p:txBody>
      </p:sp>
      <p:sp>
        <p:nvSpPr>
          <p:cNvPr id="3" name="Text 1"/>
          <p:cNvSpPr/>
          <p:nvPr/>
        </p:nvSpPr>
        <p:spPr>
          <a:xfrm>
            <a:off x="-2419815" y="1417320"/>
            <a:ext cx="13877247" cy="4754880"/>
          </a:xfrm>
          <a:prstGeom prst="rect">
            <a:avLst/>
          </a:prstGeom>
          <a:noFill/>
          <a:ln/>
        </p:spPr>
        <p:txBody>
          <a:bodyPr wrap="square" rtlCol="0" anchor="t"/>
          <a:lstStyle/>
          <a:p>
            <a:pPr marL="3486150" lvl="7" indent="-285750">
              <a:spcAft>
                <a:spcPts val="2200"/>
              </a:spcAft>
              <a:buSzPct val="100000"/>
              <a:buFont typeface="Arial" panose="020B0604020202020204" pitchFamily="34" charset="0"/>
              <a:buChar char="•"/>
            </a:pPr>
            <a:r>
              <a:rPr lang="en-IN" dirty="0"/>
              <a:t>Checked for missing/null values and handled them where required. </a:t>
            </a:r>
          </a:p>
          <a:p>
            <a:pPr marL="3486150" lvl="7" indent="-285750">
              <a:spcAft>
                <a:spcPts val="2200"/>
              </a:spcAft>
              <a:buSzPct val="100000"/>
              <a:buFont typeface="Arial" panose="020B0604020202020204" pitchFamily="34" charset="0"/>
              <a:buChar char="•"/>
            </a:pPr>
            <a:r>
              <a:rPr lang="en-IN" dirty="0"/>
              <a:t>Corrected data types for dates, numbers and categorical columns. </a:t>
            </a:r>
          </a:p>
          <a:p>
            <a:pPr marL="3486150" lvl="7" indent="-285750">
              <a:spcAft>
                <a:spcPts val="2200"/>
              </a:spcAft>
              <a:buSzPct val="100000"/>
              <a:buFont typeface="Arial" panose="020B0604020202020204" pitchFamily="34" charset="0"/>
              <a:buChar char="•"/>
            </a:pPr>
            <a:r>
              <a:rPr lang="en-IN" dirty="0"/>
              <a:t> Ensured Sales, Profit, Discount and Quantity were treated as numerical fields. </a:t>
            </a:r>
          </a:p>
          <a:p>
            <a:pPr marL="3486150" lvl="7" indent="-285750">
              <a:spcAft>
                <a:spcPts val="2200"/>
              </a:spcAft>
              <a:buSzPct val="100000"/>
              <a:buFont typeface="Arial" panose="020B0604020202020204" pitchFamily="34" charset="0"/>
              <a:buChar char="•"/>
            </a:pPr>
            <a:r>
              <a:rPr lang="en-IN" dirty="0"/>
              <a:t>Formatted Order Date and Ship Date as date fields. </a:t>
            </a:r>
          </a:p>
          <a:p>
            <a:pPr marL="3486150" lvl="7" indent="-285750">
              <a:spcAft>
                <a:spcPts val="2200"/>
              </a:spcAft>
              <a:buSzPct val="100000"/>
              <a:buFont typeface="Arial" panose="020B0604020202020204" pitchFamily="34" charset="0"/>
              <a:buChar char="•"/>
            </a:pPr>
            <a:r>
              <a:rPr lang="en-IN" dirty="0"/>
              <a:t> Reviewed Postal Code values and handled null values appropriately. </a:t>
            </a:r>
          </a:p>
          <a:p>
            <a:pPr marL="3486150" lvl="7" indent="-285750">
              <a:spcAft>
                <a:spcPts val="2200"/>
              </a:spcAft>
              <a:buSzPct val="100000"/>
              <a:buFont typeface="Arial" panose="020B0604020202020204" pitchFamily="34" charset="0"/>
              <a:buChar char="•"/>
            </a:pPr>
            <a:r>
              <a:rPr lang="en-IN" dirty="0"/>
              <a:t> Checked for duplicate/unwanted records. </a:t>
            </a:r>
          </a:p>
          <a:p>
            <a:pPr marL="3486150" lvl="7" indent="-285750">
              <a:spcAft>
                <a:spcPts val="2200"/>
              </a:spcAft>
              <a:buSzPct val="100000"/>
              <a:buFont typeface="Arial" panose="020B0604020202020204" pitchFamily="34" charset="0"/>
              <a:buChar char="•"/>
            </a:pPr>
            <a:r>
              <a:rPr lang="en-IN" dirty="0"/>
              <a:t>Verified categorical fields such as Region, Segment, Category and Ship Mode. </a:t>
            </a:r>
          </a:p>
          <a:p>
            <a:pPr marL="3486150" lvl="7" indent="-285750">
              <a:spcAft>
                <a:spcPts val="2200"/>
              </a:spcAft>
              <a:buSzPct val="100000"/>
              <a:buFont typeface="Arial" panose="020B0604020202020204" pitchFamily="34" charset="0"/>
              <a:buChar char="•"/>
            </a:pPr>
            <a:r>
              <a:rPr lang="en-IN" dirty="0"/>
              <a:t>Used the cleaned data to create DAX measures and dashboard visuals.</a:t>
            </a:r>
            <a:endParaRPr lang="en-US" sz="1800" dirty="0"/>
          </a:p>
        </p:txBody>
      </p:sp>
      <p:sp>
        <p:nvSpPr>
          <p:cNvPr id="4" name="Shape 2"/>
          <p:cNvSpPr/>
          <p:nvPr/>
        </p:nvSpPr>
        <p:spPr>
          <a:xfrm>
            <a:off x="10680192" y="6400800"/>
            <a:ext cx="1371600" cy="420624"/>
          </a:xfrm>
          <a:prstGeom prst="rect">
            <a:avLst/>
          </a:prstGeom>
          <a:solidFill>
            <a:srgbClr val="FFFFFF"/>
          </a:solidFill>
          <a:ln/>
        </p:spPr>
        <p:txBody>
          <a:bodyPr/>
          <a:lstStyle/>
          <a:p>
            <a:endParaRPr lang="en-IN"/>
          </a:p>
        </p:txBody>
      </p:sp>
      <p:pic>
        <p:nvPicPr>
          <p:cNvPr id="5"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Data Model &amp; Relationships</a:t>
            </a:r>
            <a:endParaRPr lang="en-US" sz="2600" dirty="0"/>
          </a:p>
        </p:txBody>
      </p:sp>
      <p:sp>
        <p:nvSpPr>
          <p:cNvPr id="3" name="Shape 1"/>
          <p:cNvSpPr/>
          <p:nvPr/>
        </p:nvSpPr>
        <p:spPr>
          <a:xfrm>
            <a:off x="4937760" y="2880360"/>
            <a:ext cx="2286000" cy="1005840"/>
          </a:xfrm>
          <a:prstGeom prst="rect">
            <a:avLst/>
          </a:prstGeom>
          <a:solidFill>
            <a:srgbClr val="1E3A5F"/>
          </a:solidFill>
          <a:ln/>
        </p:spPr>
        <p:txBody>
          <a:bodyPr/>
          <a:lstStyle/>
          <a:p>
            <a:endParaRPr lang="en-IN"/>
          </a:p>
        </p:txBody>
      </p:sp>
      <p:sp>
        <p:nvSpPr>
          <p:cNvPr id="4" name="Text 2"/>
          <p:cNvSpPr/>
          <p:nvPr/>
        </p:nvSpPr>
        <p:spPr>
          <a:xfrm>
            <a:off x="4937760" y="2880360"/>
            <a:ext cx="2286000" cy="100584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Orders</a:t>
            </a:r>
            <a:endParaRPr lang="en-US" sz="1500" dirty="0"/>
          </a:p>
          <a:p>
            <a:pPr marL="0" indent="0" algn="ctr">
              <a:buNone/>
            </a:pPr>
            <a:r>
              <a:rPr lang="en-US" sz="1500" b="1" dirty="0">
                <a:solidFill>
                  <a:srgbClr val="FFFFFF"/>
                </a:solidFill>
                <a:latin typeface="Arial" pitchFamily="34" charset="0"/>
                <a:ea typeface="Arial" pitchFamily="34" charset="-122"/>
                <a:cs typeface="Arial" pitchFamily="34" charset="-120"/>
              </a:rPr>
              <a:t>(Fact Table)</a:t>
            </a:r>
            <a:endParaRPr lang="en-US" sz="1500" dirty="0"/>
          </a:p>
        </p:txBody>
      </p:sp>
      <p:sp>
        <p:nvSpPr>
          <p:cNvPr id="5" name="Shape 3"/>
          <p:cNvSpPr/>
          <p:nvPr/>
        </p:nvSpPr>
        <p:spPr>
          <a:xfrm>
            <a:off x="1005840" y="1188720"/>
            <a:ext cx="2377440" cy="914400"/>
          </a:xfrm>
          <a:prstGeom prst="rect">
            <a:avLst/>
          </a:prstGeom>
          <a:solidFill>
            <a:srgbClr val="F5F5F5"/>
          </a:solidFill>
          <a:ln w="15875">
            <a:solidFill>
              <a:srgbClr val="FF0000"/>
            </a:solidFill>
            <a:prstDash val="solid"/>
          </a:ln>
        </p:spPr>
        <p:txBody>
          <a:bodyPr/>
          <a:lstStyle/>
          <a:p>
            <a:endParaRPr lang="en-IN"/>
          </a:p>
        </p:txBody>
      </p:sp>
      <p:sp>
        <p:nvSpPr>
          <p:cNvPr id="6" name="Text 4"/>
          <p:cNvSpPr/>
          <p:nvPr/>
        </p:nvSpPr>
        <p:spPr>
          <a:xfrm>
            <a:off x="1005840" y="1188720"/>
            <a:ext cx="2377440" cy="914400"/>
          </a:xfrm>
          <a:prstGeom prst="rect">
            <a:avLst/>
          </a:prstGeom>
          <a:noFill/>
          <a:ln/>
        </p:spPr>
        <p:txBody>
          <a:bodyPr wrap="square" rtlCol="0" anchor="ctr"/>
          <a:lstStyle/>
          <a:p>
            <a:pPr marL="0" indent="0" algn="ctr">
              <a:buNone/>
            </a:pPr>
            <a:r>
              <a:rPr lang="en-US" sz="1400" b="1" dirty="0">
                <a:solidFill>
                  <a:srgbClr val="1A1A1A"/>
                </a:solidFill>
                <a:latin typeface="Arial" pitchFamily="34" charset="0"/>
                <a:ea typeface="Arial" pitchFamily="34" charset="-122"/>
                <a:cs typeface="Arial" pitchFamily="34" charset="-120"/>
              </a:rPr>
              <a:t>Returns</a:t>
            </a:r>
            <a:endParaRPr lang="en-US" sz="1400" dirty="0"/>
          </a:p>
          <a:p>
            <a:pPr marL="0" indent="0" algn="ctr">
              <a:buNone/>
            </a:pPr>
            <a:r>
              <a:rPr lang="en-US" sz="1400" b="1" dirty="0">
                <a:solidFill>
                  <a:srgbClr val="1A1A1A"/>
                </a:solidFill>
                <a:latin typeface="Arial" pitchFamily="34" charset="0"/>
                <a:ea typeface="Arial" pitchFamily="34" charset="-122"/>
                <a:cs typeface="Arial" pitchFamily="34" charset="-120"/>
              </a:rPr>
              <a:t>(Dimension)</a:t>
            </a:r>
            <a:endParaRPr lang="en-US" sz="1400" dirty="0"/>
          </a:p>
        </p:txBody>
      </p:sp>
      <p:sp>
        <p:nvSpPr>
          <p:cNvPr id="7" name="Shape 5"/>
          <p:cNvSpPr/>
          <p:nvPr/>
        </p:nvSpPr>
        <p:spPr>
          <a:xfrm>
            <a:off x="8778240" y="1188720"/>
            <a:ext cx="2377440" cy="914400"/>
          </a:xfrm>
          <a:prstGeom prst="rect">
            <a:avLst/>
          </a:prstGeom>
          <a:solidFill>
            <a:srgbClr val="F5F5F5"/>
          </a:solidFill>
          <a:ln w="15875">
            <a:solidFill>
              <a:srgbClr val="FF0000"/>
            </a:solidFill>
            <a:prstDash val="solid"/>
          </a:ln>
        </p:spPr>
        <p:txBody>
          <a:bodyPr/>
          <a:lstStyle/>
          <a:p>
            <a:endParaRPr lang="en-IN"/>
          </a:p>
        </p:txBody>
      </p:sp>
      <p:sp>
        <p:nvSpPr>
          <p:cNvPr id="8" name="Text 6"/>
          <p:cNvSpPr/>
          <p:nvPr/>
        </p:nvSpPr>
        <p:spPr>
          <a:xfrm>
            <a:off x="8778240" y="1188720"/>
            <a:ext cx="2377440" cy="914400"/>
          </a:xfrm>
          <a:prstGeom prst="rect">
            <a:avLst/>
          </a:prstGeom>
          <a:noFill/>
          <a:ln/>
        </p:spPr>
        <p:txBody>
          <a:bodyPr wrap="square" rtlCol="0" anchor="ctr"/>
          <a:lstStyle/>
          <a:p>
            <a:pPr marL="0" indent="0" algn="ctr">
              <a:buNone/>
            </a:pPr>
            <a:r>
              <a:rPr lang="en-US" sz="1400" b="1" dirty="0">
                <a:solidFill>
                  <a:srgbClr val="1A1A1A"/>
                </a:solidFill>
                <a:latin typeface="Arial" pitchFamily="34" charset="0"/>
                <a:ea typeface="Arial" pitchFamily="34" charset="-122"/>
                <a:cs typeface="Arial" pitchFamily="34" charset="-120"/>
              </a:rPr>
              <a:t>People</a:t>
            </a:r>
            <a:endParaRPr lang="en-US" sz="1400" dirty="0"/>
          </a:p>
          <a:p>
            <a:pPr marL="0" indent="0" algn="ctr">
              <a:buNone/>
            </a:pPr>
            <a:r>
              <a:rPr lang="en-US" sz="1400" b="1" dirty="0">
                <a:solidFill>
                  <a:srgbClr val="1A1A1A"/>
                </a:solidFill>
                <a:latin typeface="Arial" pitchFamily="34" charset="0"/>
                <a:ea typeface="Arial" pitchFamily="34" charset="-122"/>
                <a:cs typeface="Arial" pitchFamily="34" charset="-120"/>
              </a:rPr>
              <a:t>(Dimension)</a:t>
            </a:r>
            <a:endParaRPr lang="en-US" sz="1400" dirty="0"/>
          </a:p>
        </p:txBody>
      </p:sp>
      <p:sp>
        <p:nvSpPr>
          <p:cNvPr id="9" name="Shape 7"/>
          <p:cNvSpPr/>
          <p:nvPr/>
        </p:nvSpPr>
        <p:spPr>
          <a:xfrm>
            <a:off x="3383280" y="2103120"/>
            <a:ext cx="1737360" cy="868680"/>
          </a:xfrm>
          <a:prstGeom prst="line">
            <a:avLst/>
          </a:prstGeom>
          <a:noFill/>
          <a:ln w="25400">
            <a:solidFill>
              <a:srgbClr val="1E3A5F"/>
            </a:solidFill>
            <a:prstDash val="solid"/>
            <a:tailEnd type="triangle"/>
          </a:ln>
        </p:spPr>
        <p:txBody>
          <a:bodyPr/>
          <a:lstStyle/>
          <a:p>
            <a:endParaRPr lang="en-IN"/>
          </a:p>
        </p:txBody>
      </p:sp>
      <p:sp>
        <p:nvSpPr>
          <p:cNvPr id="10" name="Shape 8"/>
          <p:cNvSpPr/>
          <p:nvPr/>
        </p:nvSpPr>
        <p:spPr>
          <a:xfrm flipH="1">
            <a:off x="7086600" y="2103120"/>
            <a:ext cx="1691640" cy="854741"/>
          </a:xfrm>
          <a:prstGeom prst="line">
            <a:avLst/>
          </a:prstGeom>
          <a:noFill/>
          <a:ln w="25400">
            <a:solidFill>
              <a:srgbClr val="1E3A5F"/>
            </a:solidFill>
            <a:prstDash val="solid"/>
            <a:tailEnd type="triangle"/>
          </a:ln>
        </p:spPr>
        <p:txBody>
          <a:bodyPr/>
          <a:lstStyle/>
          <a:p>
            <a:endParaRPr lang="en-IN"/>
          </a:p>
        </p:txBody>
      </p:sp>
      <p:sp>
        <p:nvSpPr>
          <p:cNvPr id="11" name="Text 9"/>
          <p:cNvSpPr/>
          <p:nvPr/>
        </p:nvSpPr>
        <p:spPr>
          <a:xfrm>
            <a:off x="2651760" y="2606040"/>
            <a:ext cx="1737360" cy="411480"/>
          </a:xfrm>
          <a:prstGeom prst="rect">
            <a:avLst/>
          </a:prstGeom>
          <a:noFill/>
          <a:ln/>
        </p:spPr>
        <p:txBody>
          <a:bodyPr wrap="square" rtlCol="0" anchor="ctr"/>
          <a:lstStyle/>
          <a:p>
            <a:pPr marL="0" indent="0" algn="ctr">
              <a:buNone/>
            </a:pPr>
            <a:r>
              <a:rPr lang="en-US" sz="1200" i="1" dirty="0">
                <a:solidFill>
                  <a:srgbClr val="FF0000"/>
                </a:solidFill>
                <a:latin typeface="Arial" pitchFamily="34" charset="0"/>
                <a:ea typeface="Arial" pitchFamily="34" charset="-122"/>
                <a:cs typeface="Arial" pitchFamily="34" charset="-120"/>
              </a:rPr>
              <a:t>Order ID</a:t>
            </a:r>
            <a:endParaRPr lang="en-US" sz="1200" dirty="0"/>
          </a:p>
        </p:txBody>
      </p:sp>
      <p:sp>
        <p:nvSpPr>
          <p:cNvPr id="12" name="Text 10"/>
          <p:cNvSpPr/>
          <p:nvPr/>
        </p:nvSpPr>
        <p:spPr>
          <a:xfrm>
            <a:off x="8046720" y="2514600"/>
            <a:ext cx="1463040" cy="320040"/>
          </a:xfrm>
          <a:prstGeom prst="rect">
            <a:avLst/>
          </a:prstGeom>
          <a:noFill/>
          <a:ln/>
        </p:spPr>
        <p:txBody>
          <a:bodyPr wrap="square" rtlCol="0" anchor="ctr"/>
          <a:lstStyle/>
          <a:p>
            <a:pPr marL="0" indent="0" algn="ctr">
              <a:buNone/>
            </a:pPr>
            <a:r>
              <a:rPr lang="en-US" sz="1200" i="1" dirty="0">
                <a:solidFill>
                  <a:srgbClr val="FF0000"/>
                </a:solidFill>
                <a:latin typeface="Arial" pitchFamily="34" charset="0"/>
                <a:ea typeface="Arial" pitchFamily="34" charset="-122"/>
                <a:cs typeface="Arial" pitchFamily="34" charset="-120"/>
              </a:rPr>
              <a:t>Region</a:t>
            </a:r>
            <a:endParaRPr lang="en-US" sz="1200" dirty="0"/>
          </a:p>
        </p:txBody>
      </p:sp>
      <p:sp>
        <p:nvSpPr>
          <p:cNvPr id="13" name="Text 11"/>
          <p:cNvSpPr/>
          <p:nvPr/>
        </p:nvSpPr>
        <p:spPr>
          <a:xfrm>
            <a:off x="731520" y="4434840"/>
            <a:ext cx="10725912" cy="4754880"/>
          </a:xfrm>
          <a:prstGeom prst="rect">
            <a:avLst/>
          </a:prstGeom>
          <a:noFill/>
          <a:ln/>
        </p:spPr>
        <p:txBody>
          <a:bodyPr wrap="square" rtlCol="0" anchor="t"/>
          <a:lstStyle/>
          <a:p>
            <a:pPr marL="342900" indent="-3429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Fact Table: Orders</a:t>
            </a:r>
            <a:endParaRPr lang="en-US" sz="1500" dirty="0"/>
          </a:p>
          <a:p>
            <a:pPr marL="342900" indent="-3429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Dimension Tables: Returns and People, each connected to Orders</a:t>
            </a:r>
            <a:endParaRPr lang="en-US" sz="1500" dirty="0"/>
          </a:p>
          <a:p>
            <a:pPr marL="342900" indent="-3429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Orders ↔ Returns joined on Order ID</a:t>
            </a:r>
            <a:endParaRPr lang="en-US" sz="1500" dirty="0"/>
          </a:p>
          <a:p>
            <a:pPr marL="342900" indent="-342900">
              <a:spcAft>
                <a:spcPts val="1000"/>
              </a:spcAft>
              <a:buSzPct val="100000"/>
              <a:buChar char="✓"/>
            </a:pPr>
            <a:r>
              <a:rPr lang="en-US" sz="1500" dirty="0">
                <a:solidFill>
                  <a:srgbClr val="1A1A1A"/>
                </a:solidFill>
                <a:latin typeface="Arial" pitchFamily="34" charset="0"/>
                <a:ea typeface="Arial" pitchFamily="34" charset="-122"/>
                <a:cs typeface="Arial" pitchFamily="34" charset="-120"/>
              </a:rPr>
              <a:t>Orders ↔ People joined on Region</a:t>
            </a:r>
            <a:endParaRPr lang="en-US" sz="1500" dirty="0"/>
          </a:p>
        </p:txBody>
      </p:sp>
      <p:sp>
        <p:nvSpPr>
          <p:cNvPr id="14" name="Shape 12"/>
          <p:cNvSpPr/>
          <p:nvPr/>
        </p:nvSpPr>
        <p:spPr>
          <a:xfrm>
            <a:off x="10680192" y="6400800"/>
            <a:ext cx="1371600" cy="420624"/>
          </a:xfrm>
          <a:prstGeom prst="rect">
            <a:avLst/>
          </a:prstGeom>
          <a:solidFill>
            <a:srgbClr val="FFFFFF"/>
          </a:solidFill>
          <a:ln/>
        </p:spPr>
        <p:txBody>
          <a:bodyPr/>
          <a:lstStyle/>
          <a:p>
            <a:endParaRPr lang="en-IN"/>
          </a:p>
        </p:txBody>
      </p:sp>
      <p:pic>
        <p:nvPicPr>
          <p:cNvPr id="15"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Key DAX Measures</a:t>
            </a:r>
            <a:endParaRPr lang="en-US" sz="2600" dirty="0"/>
          </a:p>
        </p:txBody>
      </p:sp>
      <p:sp>
        <p:nvSpPr>
          <p:cNvPr id="3" name="Shape 1"/>
          <p:cNvSpPr/>
          <p:nvPr/>
        </p:nvSpPr>
        <p:spPr>
          <a:xfrm>
            <a:off x="731520" y="1325880"/>
            <a:ext cx="10725912" cy="4709160"/>
          </a:xfrm>
          <a:prstGeom prst="rect">
            <a:avLst/>
          </a:prstGeom>
          <a:solidFill>
            <a:srgbClr val="F5F5F5"/>
          </a:solidFill>
          <a:ln/>
        </p:spPr>
        <p:txBody>
          <a:bodyPr/>
          <a:lstStyle/>
          <a:p>
            <a:endParaRPr lang="en-IN" dirty="0"/>
          </a:p>
        </p:txBody>
      </p:sp>
      <p:sp>
        <p:nvSpPr>
          <p:cNvPr id="4" name="Text 2"/>
          <p:cNvSpPr/>
          <p:nvPr/>
        </p:nvSpPr>
        <p:spPr>
          <a:xfrm>
            <a:off x="1005840" y="1554480"/>
            <a:ext cx="10177272" cy="4297680"/>
          </a:xfrm>
          <a:prstGeom prst="rect">
            <a:avLst/>
          </a:prstGeom>
          <a:noFill/>
          <a:ln/>
        </p:spPr>
        <p:txBody>
          <a:bodyPr wrap="square" rtlCol="0" anchor="t"/>
          <a:lstStyle/>
          <a:p>
            <a:pPr marL="0" indent="0">
              <a:buNone/>
            </a:pPr>
            <a:r>
              <a:rPr lang="en-US" sz="1500" b="1" dirty="0">
                <a:solidFill>
                  <a:srgbClr val="1A1A1A"/>
                </a:solidFill>
                <a:latin typeface="Consolas" pitchFamily="34" charset="0"/>
                <a:ea typeface="Consolas" pitchFamily="34" charset="-122"/>
                <a:cs typeface="Consolas" pitchFamily="34" charset="-120"/>
              </a:rPr>
              <a:t>Total Sales               =  </a:t>
            </a:r>
            <a:r>
              <a:rPr lang="en-US" sz="1500" dirty="0">
                <a:solidFill>
                  <a:srgbClr val="1E3A5F"/>
                </a:solidFill>
                <a:latin typeface="Consolas" pitchFamily="34" charset="0"/>
                <a:ea typeface="Consolas" pitchFamily="34" charset="-122"/>
                <a:cs typeface="Consolas" pitchFamily="34" charset="-120"/>
              </a:rPr>
              <a:t>SUM(Orders[Sales])</a:t>
            </a:r>
          </a:p>
          <a:p>
            <a:pPr marL="0" indent="0">
              <a:buNone/>
            </a:pPr>
            <a:endParaRPr lang="en-US" sz="1500" dirty="0"/>
          </a:p>
          <a:p>
            <a:pPr marL="0" indent="0">
              <a:buNone/>
            </a:pPr>
            <a:r>
              <a:rPr lang="en-US" sz="1500" b="1" dirty="0">
                <a:solidFill>
                  <a:srgbClr val="1A1A1A"/>
                </a:solidFill>
                <a:latin typeface="Consolas" pitchFamily="34" charset="0"/>
                <a:ea typeface="Consolas" pitchFamily="34" charset="-122"/>
                <a:cs typeface="Consolas" pitchFamily="34" charset="-120"/>
              </a:rPr>
              <a:t>Total Profit              =  </a:t>
            </a:r>
            <a:r>
              <a:rPr lang="en-US" sz="1500" dirty="0">
                <a:solidFill>
                  <a:srgbClr val="1E3A5F"/>
                </a:solidFill>
                <a:latin typeface="Consolas" pitchFamily="34" charset="0"/>
                <a:ea typeface="Consolas" pitchFamily="34" charset="-122"/>
                <a:cs typeface="Consolas" pitchFamily="34" charset="-120"/>
              </a:rPr>
              <a:t>SUM(Orders[Profit])</a:t>
            </a:r>
          </a:p>
          <a:p>
            <a:pPr marL="0" indent="0">
              <a:buNone/>
            </a:pPr>
            <a:endParaRPr lang="en-US" sz="1500" dirty="0"/>
          </a:p>
          <a:p>
            <a:pPr marL="0" indent="0">
              <a:buNone/>
            </a:pPr>
            <a:r>
              <a:rPr lang="en-US" sz="1500" b="1" dirty="0">
                <a:solidFill>
                  <a:srgbClr val="1A1A1A"/>
                </a:solidFill>
                <a:latin typeface="Consolas" pitchFamily="34" charset="0"/>
                <a:ea typeface="Consolas" pitchFamily="34" charset="-122"/>
                <a:cs typeface="Consolas" pitchFamily="34" charset="-120"/>
              </a:rPr>
              <a:t>Total Quantity            =  </a:t>
            </a:r>
            <a:r>
              <a:rPr lang="en-US" sz="1500" dirty="0">
                <a:solidFill>
                  <a:srgbClr val="1E3A5F"/>
                </a:solidFill>
                <a:latin typeface="Consolas" pitchFamily="34" charset="0"/>
                <a:ea typeface="Consolas" pitchFamily="34" charset="-122"/>
                <a:cs typeface="Consolas" pitchFamily="34" charset="-120"/>
              </a:rPr>
              <a:t>SUM(Orders[Quantity])</a:t>
            </a:r>
          </a:p>
          <a:p>
            <a:pPr marL="0" indent="0">
              <a:buNone/>
            </a:pPr>
            <a:endParaRPr lang="en-US" sz="1500" dirty="0"/>
          </a:p>
          <a:p>
            <a:pPr marL="0" indent="0">
              <a:buNone/>
            </a:pPr>
            <a:r>
              <a:rPr lang="en-US" sz="1500" b="1" dirty="0">
                <a:solidFill>
                  <a:srgbClr val="1A1A1A"/>
                </a:solidFill>
                <a:latin typeface="Consolas" pitchFamily="34" charset="0"/>
                <a:ea typeface="Consolas" pitchFamily="34" charset="-122"/>
                <a:cs typeface="Consolas" pitchFamily="34" charset="-120"/>
              </a:rPr>
              <a:t>Profit Margin %           =  </a:t>
            </a:r>
            <a:r>
              <a:rPr lang="en-US" sz="1500" dirty="0">
                <a:solidFill>
                  <a:srgbClr val="1E3A5F"/>
                </a:solidFill>
                <a:latin typeface="Consolas" pitchFamily="34" charset="0"/>
                <a:ea typeface="Consolas" pitchFamily="34" charset="-122"/>
                <a:cs typeface="Consolas" pitchFamily="34" charset="-120"/>
              </a:rPr>
              <a:t>DIVIDE([Total Profit], [Total Sales], 0)</a:t>
            </a:r>
          </a:p>
          <a:p>
            <a:pPr marL="0" indent="0">
              <a:buNone/>
            </a:pPr>
            <a:endParaRPr lang="en-US" sz="1500" dirty="0"/>
          </a:p>
          <a:p>
            <a:pPr marL="0" indent="0">
              <a:buNone/>
            </a:pPr>
            <a:r>
              <a:rPr lang="en-US" sz="1500" b="1" dirty="0">
                <a:solidFill>
                  <a:srgbClr val="1A1A1A"/>
                </a:solidFill>
                <a:latin typeface="Consolas" pitchFamily="34" charset="0"/>
                <a:ea typeface="Consolas" pitchFamily="34" charset="-122"/>
                <a:cs typeface="Consolas" pitchFamily="34" charset="-120"/>
              </a:rPr>
              <a:t>Return Rate %             =  </a:t>
            </a:r>
            <a:r>
              <a:rPr lang="en-US" sz="1500" dirty="0">
                <a:solidFill>
                  <a:srgbClr val="1E3A5F"/>
                </a:solidFill>
                <a:latin typeface="Consolas" pitchFamily="34" charset="0"/>
                <a:ea typeface="Consolas" pitchFamily="34" charset="-122"/>
                <a:cs typeface="Consolas" pitchFamily="34" charset="-120"/>
              </a:rPr>
              <a:t>DIVIDE(COUNTROWS(Returned Orders), COUNTROWS(Orders), 0)</a:t>
            </a:r>
          </a:p>
          <a:p>
            <a:pPr marL="0" indent="0">
              <a:buNone/>
            </a:pPr>
            <a:endParaRPr lang="en-US" sz="1500" dirty="0"/>
          </a:p>
          <a:p>
            <a:pPr marL="0" indent="0">
              <a:buNone/>
            </a:pPr>
            <a:r>
              <a:rPr lang="en-US" sz="1500" b="1" dirty="0">
                <a:solidFill>
                  <a:srgbClr val="1A1A1A"/>
                </a:solidFill>
                <a:latin typeface="Consolas" pitchFamily="34" charset="0"/>
                <a:ea typeface="Consolas" pitchFamily="34" charset="-122"/>
                <a:cs typeface="Consolas" pitchFamily="34" charset="-120"/>
              </a:rPr>
              <a:t>Average Shipping Cost     =  </a:t>
            </a:r>
            <a:r>
              <a:rPr lang="en-US" sz="1500" dirty="0">
                <a:solidFill>
                  <a:srgbClr val="1E3A5F"/>
                </a:solidFill>
                <a:latin typeface="Consolas" pitchFamily="34" charset="0"/>
                <a:ea typeface="Consolas" pitchFamily="34" charset="-122"/>
                <a:cs typeface="Consolas" pitchFamily="34" charset="-120"/>
              </a:rPr>
              <a:t>AVERAGE(Orders[Shipping Cost])</a:t>
            </a:r>
          </a:p>
          <a:p>
            <a:pPr marL="0" indent="0">
              <a:buNone/>
            </a:pPr>
            <a:endParaRPr lang="en-US" sz="1500" dirty="0"/>
          </a:p>
          <a:p>
            <a:pPr marL="0" indent="0">
              <a:buNone/>
            </a:pPr>
            <a:r>
              <a:rPr lang="en-US" sz="1500" b="1" dirty="0">
                <a:solidFill>
                  <a:srgbClr val="1A1A1A"/>
                </a:solidFill>
                <a:latin typeface="Consolas" pitchFamily="34" charset="0"/>
                <a:ea typeface="Consolas" pitchFamily="34" charset="-122"/>
                <a:cs typeface="Consolas" pitchFamily="34" charset="-120"/>
              </a:rPr>
              <a:t>Top 10 Products by Sales  =  </a:t>
            </a:r>
            <a:r>
              <a:rPr lang="en-US" sz="1500" dirty="0">
                <a:solidFill>
                  <a:srgbClr val="1E3A5F"/>
                </a:solidFill>
                <a:latin typeface="Consolas" pitchFamily="34" charset="0"/>
                <a:ea typeface="Consolas" pitchFamily="34" charset="-122"/>
                <a:cs typeface="Consolas" pitchFamily="34" charset="-120"/>
              </a:rPr>
              <a:t>RANKX(ALL(Orders[Product Name]), [Total Sales])</a:t>
            </a:r>
            <a:endParaRPr lang="en-US" sz="1500" dirty="0"/>
          </a:p>
        </p:txBody>
      </p:sp>
      <p:sp>
        <p:nvSpPr>
          <p:cNvPr id="5" name="Shape 3"/>
          <p:cNvSpPr/>
          <p:nvPr/>
        </p:nvSpPr>
        <p:spPr>
          <a:xfrm>
            <a:off x="10680192" y="6400800"/>
            <a:ext cx="1371600" cy="420624"/>
          </a:xfrm>
          <a:prstGeom prst="rect">
            <a:avLst/>
          </a:prstGeom>
          <a:solidFill>
            <a:srgbClr val="FFFFFF"/>
          </a:solidFill>
          <a:ln/>
        </p:spPr>
        <p:txBody>
          <a:bodyPr/>
          <a:lstStyle/>
          <a:p>
            <a:endParaRPr lang="en-IN"/>
          </a:p>
        </p:txBody>
      </p:sp>
      <p:pic>
        <p:nvPicPr>
          <p:cNvPr id="6"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
        <p:nvSpPr>
          <p:cNvPr id="7" name="Text 4"/>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Dashboard KPI Cards</a:t>
            </a:r>
            <a:endParaRPr lang="en-US" sz="2600" dirty="0"/>
          </a:p>
        </p:txBody>
      </p:sp>
      <p:sp>
        <p:nvSpPr>
          <p:cNvPr id="3" name="Shape 1"/>
          <p:cNvSpPr/>
          <p:nvPr/>
        </p:nvSpPr>
        <p:spPr>
          <a:xfrm>
            <a:off x="585216" y="1691640"/>
            <a:ext cx="2514600" cy="2606040"/>
          </a:xfrm>
          <a:prstGeom prst="rect">
            <a:avLst/>
          </a:prstGeom>
          <a:solidFill>
            <a:srgbClr val="FFFFFF"/>
          </a:solidFill>
          <a:ln w="12700">
            <a:solidFill>
              <a:srgbClr val="E3E3E3"/>
            </a:solidFill>
            <a:prstDash val="solid"/>
          </a:ln>
          <a:effectLst>
            <a:outerShdw blurRad="76200" dist="25400" dir="5400000" algn="bl" rotWithShape="0">
              <a:srgbClr val="999999">
                <a:alpha val="25000"/>
              </a:srgbClr>
            </a:outerShdw>
          </a:effectLst>
        </p:spPr>
        <p:txBody>
          <a:bodyPr/>
          <a:lstStyle/>
          <a:p>
            <a:endParaRPr lang="en-IN"/>
          </a:p>
        </p:txBody>
      </p:sp>
      <p:sp>
        <p:nvSpPr>
          <p:cNvPr id="4" name="Text 2"/>
          <p:cNvSpPr/>
          <p:nvPr/>
        </p:nvSpPr>
        <p:spPr>
          <a:xfrm>
            <a:off x="585216" y="1847088"/>
            <a:ext cx="2514600" cy="6858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5" name="Text 3"/>
          <p:cNvSpPr/>
          <p:nvPr/>
        </p:nvSpPr>
        <p:spPr>
          <a:xfrm>
            <a:off x="676656" y="2487168"/>
            <a:ext cx="2331720" cy="548640"/>
          </a:xfrm>
          <a:prstGeom prst="rect">
            <a:avLst/>
          </a:prstGeom>
          <a:noFill/>
          <a:ln/>
        </p:spPr>
        <p:txBody>
          <a:bodyPr wrap="square" rtlCol="0" anchor="ctr"/>
          <a:lstStyle/>
          <a:p>
            <a:pPr marL="0" indent="0" algn="ctr">
              <a:buNone/>
            </a:pPr>
            <a:r>
              <a:rPr lang="en-US" sz="2600" b="1" dirty="0">
                <a:solidFill>
                  <a:srgbClr val="1E3A5F"/>
                </a:solidFill>
                <a:latin typeface="Arial" pitchFamily="34" charset="0"/>
                <a:ea typeface="Arial" pitchFamily="34" charset="-122"/>
                <a:cs typeface="Arial" pitchFamily="34" charset="-120"/>
              </a:rPr>
              <a:t>12.64M</a:t>
            </a:r>
            <a:endParaRPr lang="en-US" sz="2600" dirty="0"/>
          </a:p>
        </p:txBody>
      </p:sp>
      <p:sp>
        <p:nvSpPr>
          <p:cNvPr id="6" name="Text 4"/>
          <p:cNvSpPr/>
          <p:nvPr/>
        </p:nvSpPr>
        <p:spPr>
          <a:xfrm>
            <a:off x="676656" y="3063240"/>
            <a:ext cx="2331720" cy="411480"/>
          </a:xfrm>
          <a:prstGeom prst="rect">
            <a:avLst/>
          </a:prstGeom>
          <a:noFill/>
          <a:ln/>
        </p:spPr>
        <p:txBody>
          <a:bodyPr wrap="square" rtlCol="0" anchor="ctr"/>
          <a:lstStyle/>
          <a:p>
            <a:pPr marL="0" indent="0" algn="ctr">
              <a:buNone/>
            </a:pPr>
            <a:r>
              <a:rPr lang="en-US" sz="1400" b="1" dirty="0">
                <a:solidFill>
                  <a:srgbClr val="FF0000"/>
                </a:solidFill>
                <a:latin typeface="Arial" pitchFamily="34" charset="0"/>
                <a:ea typeface="Arial" pitchFamily="34" charset="-122"/>
                <a:cs typeface="Arial" pitchFamily="34" charset="-120"/>
              </a:rPr>
              <a:t>Total Sales</a:t>
            </a:r>
            <a:endParaRPr lang="en-US" sz="1400" dirty="0"/>
          </a:p>
        </p:txBody>
      </p:sp>
      <p:sp>
        <p:nvSpPr>
          <p:cNvPr id="7" name="Text 5"/>
          <p:cNvSpPr/>
          <p:nvPr/>
        </p:nvSpPr>
        <p:spPr>
          <a:xfrm>
            <a:off x="722376" y="3520440"/>
            <a:ext cx="2240280" cy="548640"/>
          </a:xfrm>
          <a:prstGeom prst="rect">
            <a:avLst/>
          </a:prstGeom>
          <a:noFill/>
          <a:ln/>
        </p:spPr>
        <p:txBody>
          <a:bodyPr wrap="square" rtlCol="0" anchor="ctr"/>
          <a:lstStyle/>
          <a:p>
            <a:pPr marL="0" indent="0" algn="ctr">
              <a:buNone/>
            </a:pPr>
            <a:r>
              <a:rPr lang="en-US" sz="1100" dirty="0">
                <a:solidFill>
                  <a:srgbClr val="5A5A5A"/>
                </a:solidFill>
                <a:latin typeface="Arial" pitchFamily="34" charset="0"/>
                <a:ea typeface="Arial" pitchFamily="34" charset="-122"/>
                <a:cs typeface="Arial" pitchFamily="34" charset="-120"/>
              </a:rPr>
              <a:t>Sum of all order sales</a:t>
            </a:r>
            <a:endParaRPr lang="en-US" sz="1100" dirty="0"/>
          </a:p>
        </p:txBody>
      </p:sp>
      <p:sp>
        <p:nvSpPr>
          <p:cNvPr id="8" name="Shape 6"/>
          <p:cNvSpPr/>
          <p:nvPr/>
        </p:nvSpPr>
        <p:spPr>
          <a:xfrm>
            <a:off x="3419856" y="1691640"/>
            <a:ext cx="2514600" cy="2606040"/>
          </a:xfrm>
          <a:prstGeom prst="rect">
            <a:avLst/>
          </a:prstGeom>
          <a:solidFill>
            <a:srgbClr val="FFFFFF"/>
          </a:solidFill>
          <a:ln w="12700">
            <a:solidFill>
              <a:srgbClr val="E3E3E3"/>
            </a:solidFill>
            <a:prstDash val="solid"/>
          </a:ln>
          <a:effectLst>
            <a:outerShdw blurRad="76200" dist="25400" dir="5400000" algn="bl" rotWithShape="0">
              <a:srgbClr val="999999">
                <a:alpha val="25000"/>
              </a:srgbClr>
            </a:outerShdw>
          </a:effectLst>
        </p:spPr>
        <p:txBody>
          <a:bodyPr/>
          <a:lstStyle/>
          <a:p>
            <a:endParaRPr lang="en-IN"/>
          </a:p>
        </p:txBody>
      </p:sp>
      <p:sp>
        <p:nvSpPr>
          <p:cNvPr id="9" name="Text 7"/>
          <p:cNvSpPr/>
          <p:nvPr/>
        </p:nvSpPr>
        <p:spPr>
          <a:xfrm>
            <a:off x="3419856" y="1847088"/>
            <a:ext cx="2514600" cy="6858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0" name="Text 8"/>
          <p:cNvSpPr/>
          <p:nvPr/>
        </p:nvSpPr>
        <p:spPr>
          <a:xfrm>
            <a:off x="3511296" y="2487168"/>
            <a:ext cx="2331720" cy="548640"/>
          </a:xfrm>
          <a:prstGeom prst="rect">
            <a:avLst/>
          </a:prstGeom>
          <a:noFill/>
          <a:ln/>
        </p:spPr>
        <p:txBody>
          <a:bodyPr wrap="square" rtlCol="0" anchor="ctr"/>
          <a:lstStyle/>
          <a:p>
            <a:pPr marL="0" indent="0" algn="ctr">
              <a:buNone/>
            </a:pPr>
            <a:r>
              <a:rPr lang="en-US" sz="2600" b="1" dirty="0">
                <a:solidFill>
                  <a:srgbClr val="1E3A5F"/>
                </a:solidFill>
                <a:latin typeface="Arial" pitchFamily="34" charset="0"/>
                <a:ea typeface="Arial" pitchFamily="34" charset="-122"/>
                <a:cs typeface="Arial" pitchFamily="34" charset="-120"/>
              </a:rPr>
              <a:t>1.47M</a:t>
            </a:r>
            <a:endParaRPr lang="en-US" sz="2600" dirty="0"/>
          </a:p>
        </p:txBody>
      </p:sp>
      <p:sp>
        <p:nvSpPr>
          <p:cNvPr id="11" name="Text 9"/>
          <p:cNvSpPr/>
          <p:nvPr/>
        </p:nvSpPr>
        <p:spPr>
          <a:xfrm>
            <a:off x="3511296" y="3063240"/>
            <a:ext cx="2331720" cy="411480"/>
          </a:xfrm>
          <a:prstGeom prst="rect">
            <a:avLst/>
          </a:prstGeom>
          <a:noFill/>
          <a:ln/>
        </p:spPr>
        <p:txBody>
          <a:bodyPr wrap="square" rtlCol="0" anchor="ctr"/>
          <a:lstStyle/>
          <a:p>
            <a:pPr marL="0" indent="0" algn="ctr">
              <a:buNone/>
            </a:pPr>
            <a:r>
              <a:rPr lang="en-US" sz="1400" b="1" dirty="0">
                <a:solidFill>
                  <a:srgbClr val="FF0000"/>
                </a:solidFill>
                <a:latin typeface="Arial" pitchFamily="34" charset="0"/>
                <a:ea typeface="Arial" pitchFamily="34" charset="-122"/>
                <a:cs typeface="Arial" pitchFamily="34" charset="-120"/>
              </a:rPr>
              <a:t>Total Profit</a:t>
            </a:r>
            <a:endParaRPr lang="en-US" sz="1400" dirty="0"/>
          </a:p>
        </p:txBody>
      </p:sp>
      <p:sp>
        <p:nvSpPr>
          <p:cNvPr id="12" name="Text 10"/>
          <p:cNvSpPr/>
          <p:nvPr/>
        </p:nvSpPr>
        <p:spPr>
          <a:xfrm>
            <a:off x="3557016" y="3520440"/>
            <a:ext cx="2240280" cy="548640"/>
          </a:xfrm>
          <a:prstGeom prst="rect">
            <a:avLst/>
          </a:prstGeom>
          <a:noFill/>
          <a:ln/>
        </p:spPr>
        <p:txBody>
          <a:bodyPr wrap="square" rtlCol="0" anchor="ctr"/>
          <a:lstStyle/>
          <a:p>
            <a:pPr marL="0" indent="0" algn="ctr">
              <a:buNone/>
            </a:pPr>
            <a:r>
              <a:rPr lang="en-US" sz="1100" dirty="0">
                <a:solidFill>
                  <a:srgbClr val="5A5A5A"/>
                </a:solidFill>
                <a:latin typeface="Arial" pitchFamily="34" charset="0"/>
                <a:ea typeface="Arial" pitchFamily="34" charset="-122"/>
                <a:cs typeface="Arial" pitchFamily="34" charset="-120"/>
              </a:rPr>
              <a:t>Sum of all order profit</a:t>
            </a:r>
            <a:endParaRPr lang="en-US" sz="1100" dirty="0"/>
          </a:p>
        </p:txBody>
      </p:sp>
      <p:sp>
        <p:nvSpPr>
          <p:cNvPr id="13" name="Shape 11"/>
          <p:cNvSpPr/>
          <p:nvPr/>
        </p:nvSpPr>
        <p:spPr>
          <a:xfrm>
            <a:off x="6254496" y="1691640"/>
            <a:ext cx="2514600" cy="2606040"/>
          </a:xfrm>
          <a:prstGeom prst="rect">
            <a:avLst/>
          </a:prstGeom>
          <a:solidFill>
            <a:srgbClr val="FFFFFF"/>
          </a:solidFill>
          <a:ln w="12700">
            <a:solidFill>
              <a:srgbClr val="E3E3E3"/>
            </a:solidFill>
            <a:prstDash val="solid"/>
          </a:ln>
          <a:effectLst>
            <a:outerShdw blurRad="76200" dist="25400" dir="5400000" algn="bl" rotWithShape="0">
              <a:srgbClr val="999999">
                <a:alpha val="25000"/>
              </a:srgbClr>
            </a:outerShdw>
          </a:effectLst>
        </p:spPr>
        <p:txBody>
          <a:bodyPr/>
          <a:lstStyle/>
          <a:p>
            <a:endParaRPr lang="en-IN"/>
          </a:p>
        </p:txBody>
      </p:sp>
      <p:sp>
        <p:nvSpPr>
          <p:cNvPr id="14" name="Text 12"/>
          <p:cNvSpPr/>
          <p:nvPr/>
        </p:nvSpPr>
        <p:spPr>
          <a:xfrm>
            <a:off x="6254496" y="1847088"/>
            <a:ext cx="2514600" cy="6858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5" name="Text 13"/>
          <p:cNvSpPr/>
          <p:nvPr/>
        </p:nvSpPr>
        <p:spPr>
          <a:xfrm>
            <a:off x="6345936" y="2487168"/>
            <a:ext cx="2331720" cy="548640"/>
          </a:xfrm>
          <a:prstGeom prst="rect">
            <a:avLst/>
          </a:prstGeom>
          <a:noFill/>
          <a:ln/>
        </p:spPr>
        <p:txBody>
          <a:bodyPr wrap="square" rtlCol="0" anchor="ctr"/>
          <a:lstStyle/>
          <a:p>
            <a:pPr marL="0" indent="0" algn="ctr">
              <a:buNone/>
            </a:pPr>
            <a:r>
              <a:rPr lang="en-US" sz="2600" b="1" dirty="0">
                <a:solidFill>
                  <a:srgbClr val="1E3A5F"/>
                </a:solidFill>
                <a:latin typeface="Arial" pitchFamily="34" charset="0"/>
                <a:ea typeface="Arial" pitchFamily="34" charset="-122"/>
                <a:cs typeface="Arial" pitchFamily="34" charset="-120"/>
              </a:rPr>
              <a:t>11.61%</a:t>
            </a:r>
            <a:endParaRPr lang="en-US" sz="2600" dirty="0"/>
          </a:p>
        </p:txBody>
      </p:sp>
      <p:sp>
        <p:nvSpPr>
          <p:cNvPr id="16" name="Text 14"/>
          <p:cNvSpPr/>
          <p:nvPr/>
        </p:nvSpPr>
        <p:spPr>
          <a:xfrm>
            <a:off x="6345936" y="3063240"/>
            <a:ext cx="2331720" cy="411480"/>
          </a:xfrm>
          <a:prstGeom prst="rect">
            <a:avLst/>
          </a:prstGeom>
          <a:noFill/>
          <a:ln/>
        </p:spPr>
        <p:txBody>
          <a:bodyPr wrap="square" rtlCol="0" anchor="ctr"/>
          <a:lstStyle/>
          <a:p>
            <a:pPr marL="0" indent="0" algn="ctr">
              <a:buNone/>
            </a:pPr>
            <a:r>
              <a:rPr lang="en-US" sz="1400" b="1" dirty="0">
                <a:solidFill>
                  <a:srgbClr val="FF0000"/>
                </a:solidFill>
                <a:latin typeface="Arial" pitchFamily="34" charset="0"/>
                <a:ea typeface="Arial" pitchFamily="34" charset="-122"/>
                <a:cs typeface="Arial" pitchFamily="34" charset="-120"/>
              </a:rPr>
              <a:t>Profit Margin %</a:t>
            </a:r>
            <a:endParaRPr lang="en-US" sz="1400" dirty="0"/>
          </a:p>
        </p:txBody>
      </p:sp>
      <p:sp>
        <p:nvSpPr>
          <p:cNvPr id="17" name="Text 15"/>
          <p:cNvSpPr/>
          <p:nvPr/>
        </p:nvSpPr>
        <p:spPr>
          <a:xfrm>
            <a:off x="6391656" y="3520440"/>
            <a:ext cx="2240280" cy="548640"/>
          </a:xfrm>
          <a:prstGeom prst="rect">
            <a:avLst/>
          </a:prstGeom>
          <a:noFill/>
          <a:ln/>
        </p:spPr>
        <p:txBody>
          <a:bodyPr wrap="square" rtlCol="0" anchor="ctr"/>
          <a:lstStyle/>
          <a:p>
            <a:pPr marL="0" indent="0" algn="ctr">
              <a:buNone/>
            </a:pPr>
            <a:r>
              <a:rPr lang="en-US" sz="1100" dirty="0">
                <a:solidFill>
                  <a:srgbClr val="5A5A5A"/>
                </a:solidFill>
                <a:latin typeface="Arial" pitchFamily="34" charset="0"/>
                <a:ea typeface="Arial" pitchFamily="34" charset="-122"/>
                <a:cs typeface="Arial" pitchFamily="34" charset="-120"/>
              </a:rPr>
              <a:t>Profit ÷ Sales</a:t>
            </a:r>
            <a:endParaRPr lang="en-US" sz="1100" dirty="0"/>
          </a:p>
        </p:txBody>
      </p:sp>
      <p:sp>
        <p:nvSpPr>
          <p:cNvPr id="18" name="Shape 16"/>
          <p:cNvSpPr/>
          <p:nvPr/>
        </p:nvSpPr>
        <p:spPr>
          <a:xfrm>
            <a:off x="9089136" y="1691640"/>
            <a:ext cx="2514600" cy="2606040"/>
          </a:xfrm>
          <a:prstGeom prst="rect">
            <a:avLst/>
          </a:prstGeom>
          <a:solidFill>
            <a:srgbClr val="FFFFFF"/>
          </a:solidFill>
          <a:ln w="12700">
            <a:solidFill>
              <a:srgbClr val="E3E3E3"/>
            </a:solidFill>
            <a:prstDash val="solid"/>
          </a:ln>
          <a:effectLst>
            <a:outerShdw blurRad="76200" dist="25400" dir="5400000" algn="bl" rotWithShape="0">
              <a:srgbClr val="999999">
                <a:alpha val="25000"/>
              </a:srgbClr>
            </a:outerShdw>
          </a:effectLst>
        </p:spPr>
        <p:txBody>
          <a:bodyPr/>
          <a:lstStyle/>
          <a:p>
            <a:endParaRPr lang="en-IN"/>
          </a:p>
        </p:txBody>
      </p:sp>
      <p:sp>
        <p:nvSpPr>
          <p:cNvPr id="19" name="Text 17"/>
          <p:cNvSpPr/>
          <p:nvPr/>
        </p:nvSpPr>
        <p:spPr>
          <a:xfrm>
            <a:off x="9089136" y="1847088"/>
            <a:ext cx="2514600" cy="68580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0" name="Text 18"/>
          <p:cNvSpPr/>
          <p:nvPr/>
        </p:nvSpPr>
        <p:spPr>
          <a:xfrm>
            <a:off x="9180576" y="2487168"/>
            <a:ext cx="2331720" cy="548640"/>
          </a:xfrm>
          <a:prstGeom prst="rect">
            <a:avLst/>
          </a:prstGeom>
          <a:noFill/>
          <a:ln/>
        </p:spPr>
        <p:txBody>
          <a:bodyPr wrap="square" rtlCol="0" anchor="ctr"/>
          <a:lstStyle/>
          <a:p>
            <a:pPr marL="0" indent="0" algn="ctr">
              <a:buNone/>
            </a:pPr>
            <a:r>
              <a:rPr lang="en-US" sz="2600" b="1" dirty="0">
                <a:solidFill>
                  <a:srgbClr val="1E3A5F"/>
                </a:solidFill>
                <a:latin typeface="Arial" pitchFamily="34" charset="0"/>
                <a:ea typeface="Arial" pitchFamily="34" charset="-122"/>
                <a:cs typeface="Arial" pitchFamily="34" charset="-120"/>
              </a:rPr>
              <a:t>4.68%</a:t>
            </a:r>
            <a:endParaRPr lang="en-US" sz="2600" dirty="0"/>
          </a:p>
        </p:txBody>
      </p:sp>
      <p:sp>
        <p:nvSpPr>
          <p:cNvPr id="21" name="Text 19"/>
          <p:cNvSpPr/>
          <p:nvPr/>
        </p:nvSpPr>
        <p:spPr>
          <a:xfrm>
            <a:off x="9180576" y="3063240"/>
            <a:ext cx="2331720" cy="411480"/>
          </a:xfrm>
          <a:prstGeom prst="rect">
            <a:avLst/>
          </a:prstGeom>
          <a:noFill/>
          <a:ln/>
        </p:spPr>
        <p:txBody>
          <a:bodyPr wrap="square" rtlCol="0" anchor="ctr"/>
          <a:lstStyle/>
          <a:p>
            <a:pPr marL="0" indent="0" algn="ctr">
              <a:buNone/>
            </a:pPr>
            <a:r>
              <a:rPr lang="en-US" sz="1400" b="1" dirty="0">
                <a:solidFill>
                  <a:srgbClr val="FF0000"/>
                </a:solidFill>
                <a:latin typeface="Arial" pitchFamily="34" charset="0"/>
                <a:ea typeface="Arial" pitchFamily="34" charset="-122"/>
                <a:cs typeface="Arial" pitchFamily="34" charset="-120"/>
              </a:rPr>
              <a:t>Return Rate %</a:t>
            </a:r>
            <a:endParaRPr lang="en-US" sz="1400" dirty="0"/>
          </a:p>
        </p:txBody>
      </p:sp>
      <p:sp>
        <p:nvSpPr>
          <p:cNvPr id="22" name="Text 20"/>
          <p:cNvSpPr/>
          <p:nvPr/>
        </p:nvSpPr>
        <p:spPr>
          <a:xfrm>
            <a:off x="9226296" y="3520440"/>
            <a:ext cx="2240280" cy="548640"/>
          </a:xfrm>
          <a:prstGeom prst="rect">
            <a:avLst/>
          </a:prstGeom>
          <a:noFill/>
          <a:ln/>
        </p:spPr>
        <p:txBody>
          <a:bodyPr wrap="square" rtlCol="0" anchor="ctr"/>
          <a:lstStyle/>
          <a:p>
            <a:pPr marL="0" indent="0" algn="ctr">
              <a:buNone/>
            </a:pPr>
            <a:r>
              <a:rPr lang="en-US" sz="1100" dirty="0">
                <a:solidFill>
                  <a:srgbClr val="5A5A5A"/>
                </a:solidFill>
                <a:latin typeface="Arial" pitchFamily="34" charset="0"/>
                <a:ea typeface="Arial" pitchFamily="34" charset="-122"/>
                <a:cs typeface="Arial" pitchFamily="34" charset="-120"/>
              </a:rPr>
              <a:t>Share of orders returned</a:t>
            </a:r>
            <a:endParaRPr lang="en-US" sz="1100" dirty="0"/>
          </a:p>
        </p:txBody>
      </p:sp>
      <p:sp>
        <p:nvSpPr>
          <p:cNvPr id="23" name="Text 21"/>
          <p:cNvSpPr/>
          <p:nvPr/>
        </p:nvSpPr>
        <p:spPr>
          <a:xfrm>
            <a:off x="731520" y="4617720"/>
            <a:ext cx="10725912" cy="457200"/>
          </a:xfrm>
          <a:prstGeom prst="rect">
            <a:avLst/>
          </a:prstGeom>
          <a:noFill/>
          <a:ln/>
        </p:spPr>
        <p:txBody>
          <a:bodyPr wrap="square" rtlCol="0" anchor="ctr"/>
          <a:lstStyle/>
          <a:p>
            <a:pPr marL="0" indent="0" algn="ctr">
              <a:buNone/>
            </a:pPr>
            <a:endParaRPr lang="en-US" sz="1300" dirty="0"/>
          </a:p>
        </p:txBody>
      </p:sp>
      <p:sp>
        <p:nvSpPr>
          <p:cNvPr id="24" name="Shape 22"/>
          <p:cNvSpPr/>
          <p:nvPr/>
        </p:nvSpPr>
        <p:spPr>
          <a:xfrm>
            <a:off x="10680192" y="6400800"/>
            <a:ext cx="1371600" cy="420624"/>
          </a:xfrm>
          <a:prstGeom prst="rect">
            <a:avLst/>
          </a:prstGeom>
          <a:solidFill>
            <a:srgbClr val="FFFFFF"/>
          </a:solidFill>
          <a:ln/>
        </p:spPr>
        <p:txBody>
          <a:bodyPr/>
          <a:lstStyle/>
          <a:p>
            <a:endParaRPr lang="en-IN"/>
          </a:p>
        </p:txBody>
      </p:sp>
      <p:pic>
        <p:nvPicPr>
          <p:cNvPr id="25"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
        <p:nvSpPr>
          <p:cNvPr id="26" name="Text 23"/>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Dashboard Visuals</a:t>
            </a:r>
            <a:endParaRPr lang="en-US" sz="2600" dirty="0"/>
          </a:p>
        </p:txBody>
      </p:sp>
      <p:sp>
        <p:nvSpPr>
          <p:cNvPr id="3" name="Shape 1"/>
          <p:cNvSpPr/>
          <p:nvPr/>
        </p:nvSpPr>
        <p:spPr>
          <a:xfrm>
            <a:off x="914400" y="1417320"/>
            <a:ext cx="731520" cy="731520"/>
          </a:xfrm>
          <a:prstGeom prst="ellipse">
            <a:avLst/>
          </a:prstGeom>
          <a:solidFill>
            <a:srgbClr val="F5F5F5"/>
          </a:solidFill>
          <a:ln w="15875">
            <a:solidFill>
              <a:srgbClr val="1E3A5F"/>
            </a:solidFill>
            <a:prstDash val="solid"/>
          </a:ln>
        </p:spPr>
        <p:txBody>
          <a:bodyPr/>
          <a:lstStyle/>
          <a:p>
            <a:endParaRPr lang="en-IN"/>
          </a:p>
        </p:txBody>
      </p:sp>
      <p:sp>
        <p:nvSpPr>
          <p:cNvPr id="4" name="Text 2"/>
          <p:cNvSpPr/>
          <p:nvPr/>
        </p:nvSpPr>
        <p:spPr>
          <a:xfrm>
            <a:off x="914400" y="1417320"/>
            <a:ext cx="731520" cy="7315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5" name="Text 3"/>
          <p:cNvSpPr/>
          <p:nvPr/>
        </p:nvSpPr>
        <p:spPr>
          <a:xfrm>
            <a:off x="1874520" y="1490472"/>
            <a:ext cx="8686800" cy="594360"/>
          </a:xfrm>
          <a:prstGeom prst="rect">
            <a:avLst/>
          </a:prstGeom>
          <a:noFill/>
          <a:ln/>
        </p:spPr>
        <p:txBody>
          <a:bodyPr wrap="square" rtlCol="0" anchor="ctr"/>
          <a:lstStyle/>
          <a:p>
            <a:pPr marL="0" indent="0">
              <a:buNone/>
            </a:pPr>
            <a:r>
              <a:rPr lang="en-US" sz="1700" b="1" dirty="0">
                <a:solidFill>
                  <a:srgbClr val="1A1A1A"/>
                </a:solidFill>
                <a:latin typeface="Arial" pitchFamily="34" charset="0"/>
                <a:ea typeface="Arial" pitchFamily="34" charset="-122"/>
                <a:cs typeface="Arial" pitchFamily="34" charset="-120"/>
              </a:rPr>
              <a:t>Line Chart  —  </a:t>
            </a:r>
            <a:r>
              <a:rPr lang="en-US" sz="1700" dirty="0">
                <a:solidFill>
                  <a:srgbClr val="1A1A1A"/>
                </a:solidFill>
                <a:latin typeface="Arial" pitchFamily="34" charset="0"/>
                <a:ea typeface="Arial" pitchFamily="34" charset="-122"/>
                <a:cs typeface="Arial" pitchFamily="34" charset="-120"/>
              </a:rPr>
              <a:t>Monthly Sales Trend</a:t>
            </a:r>
            <a:endParaRPr lang="en-US" sz="1700" dirty="0"/>
          </a:p>
        </p:txBody>
      </p:sp>
      <p:sp>
        <p:nvSpPr>
          <p:cNvPr id="6" name="Shape 4"/>
          <p:cNvSpPr/>
          <p:nvPr/>
        </p:nvSpPr>
        <p:spPr>
          <a:xfrm>
            <a:off x="914400" y="2313432"/>
            <a:ext cx="731520" cy="731520"/>
          </a:xfrm>
          <a:prstGeom prst="ellipse">
            <a:avLst/>
          </a:prstGeom>
          <a:solidFill>
            <a:srgbClr val="F5F5F5"/>
          </a:solidFill>
          <a:ln w="15875">
            <a:solidFill>
              <a:srgbClr val="1E3A5F"/>
            </a:solidFill>
            <a:prstDash val="solid"/>
          </a:ln>
        </p:spPr>
        <p:txBody>
          <a:bodyPr/>
          <a:lstStyle/>
          <a:p>
            <a:endParaRPr lang="en-IN"/>
          </a:p>
        </p:txBody>
      </p:sp>
      <p:sp>
        <p:nvSpPr>
          <p:cNvPr id="7" name="Text 5"/>
          <p:cNvSpPr/>
          <p:nvPr/>
        </p:nvSpPr>
        <p:spPr>
          <a:xfrm>
            <a:off x="914400" y="2313432"/>
            <a:ext cx="731520" cy="7315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8" name="Text 6"/>
          <p:cNvSpPr/>
          <p:nvPr/>
        </p:nvSpPr>
        <p:spPr>
          <a:xfrm>
            <a:off x="1874520" y="2386584"/>
            <a:ext cx="8686800" cy="594360"/>
          </a:xfrm>
          <a:prstGeom prst="rect">
            <a:avLst/>
          </a:prstGeom>
          <a:noFill/>
          <a:ln/>
        </p:spPr>
        <p:txBody>
          <a:bodyPr wrap="square" rtlCol="0" anchor="ctr"/>
          <a:lstStyle/>
          <a:p>
            <a:pPr marL="0" indent="0">
              <a:buNone/>
            </a:pPr>
            <a:r>
              <a:rPr lang="en-US" sz="1700" b="1" dirty="0">
                <a:solidFill>
                  <a:srgbClr val="1A1A1A"/>
                </a:solidFill>
                <a:latin typeface="Arial" pitchFamily="34" charset="0"/>
                <a:ea typeface="Arial" pitchFamily="34" charset="-122"/>
                <a:cs typeface="Arial" pitchFamily="34" charset="-120"/>
              </a:rPr>
              <a:t>Bar Chart  —  </a:t>
            </a:r>
            <a:r>
              <a:rPr lang="en-US" sz="1700" dirty="0">
                <a:solidFill>
                  <a:srgbClr val="1A1A1A"/>
                </a:solidFill>
                <a:latin typeface="Arial" pitchFamily="34" charset="0"/>
                <a:ea typeface="Arial" pitchFamily="34" charset="-122"/>
                <a:cs typeface="Arial" pitchFamily="34" charset="-120"/>
              </a:rPr>
              <a:t>Sales by Region</a:t>
            </a:r>
            <a:endParaRPr lang="en-US" sz="1700" dirty="0"/>
          </a:p>
        </p:txBody>
      </p:sp>
      <p:sp>
        <p:nvSpPr>
          <p:cNvPr id="9" name="Shape 7"/>
          <p:cNvSpPr/>
          <p:nvPr/>
        </p:nvSpPr>
        <p:spPr>
          <a:xfrm>
            <a:off x="914400" y="3209544"/>
            <a:ext cx="731520" cy="731520"/>
          </a:xfrm>
          <a:prstGeom prst="ellipse">
            <a:avLst/>
          </a:prstGeom>
          <a:solidFill>
            <a:srgbClr val="F5F5F5"/>
          </a:solidFill>
          <a:ln w="15875">
            <a:solidFill>
              <a:srgbClr val="1E3A5F"/>
            </a:solidFill>
            <a:prstDash val="solid"/>
          </a:ln>
        </p:spPr>
        <p:txBody>
          <a:bodyPr/>
          <a:lstStyle/>
          <a:p>
            <a:endParaRPr lang="en-IN"/>
          </a:p>
        </p:txBody>
      </p:sp>
      <p:sp>
        <p:nvSpPr>
          <p:cNvPr id="10" name="Text 8"/>
          <p:cNvSpPr/>
          <p:nvPr/>
        </p:nvSpPr>
        <p:spPr>
          <a:xfrm>
            <a:off x="914400" y="3209544"/>
            <a:ext cx="731520" cy="7315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1" name="Text 9"/>
          <p:cNvSpPr/>
          <p:nvPr/>
        </p:nvSpPr>
        <p:spPr>
          <a:xfrm>
            <a:off x="1874520" y="3282696"/>
            <a:ext cx="8686800" cy="594360"/>
          </a:xfrm>
          <a:prstGeom prst="rect">
            <a:avLst/>
          </a:prstGeom>
          <a:noFill/>
          <a:ln/>
        </p:spPr>
        <p:txBody>
          <a:bodyPr wrap="square" rtlCol="0" anchor="ctr"/>
          <a:lstStyle/>
          <a:p>
            <a:pPr marL="0" indent="0">
              <a:buNone/>
            </a:pPr>
            <a:r>
              <a:rPr lang="en-US" sz="1700" b="1" dirty="0">
                <a:solidFill>
                  <a:srgbClr val="1A1A1A"/>
                </a:solidFill>
                <a:latin typeface="Arial" pitchFamily="34" charset="0"/>
                <a:ea typeface="Arial" pitchFamily="34" charset="-122"/>
                <a:cs typeface="Arial" pitchFamily="34" charset="-120"/>
              </a:rPr>
              <a:t>Donut Chart  —  </a:t>
            </a:r>
            <a:r>
              <a:rPr lang="en-US" sz="1700" dirty="0">
                <a:solidFill>
                  <a:srgbClr val="1A1A1A"/>
                </a:solidFill>
                <a:latin typeface="Arial" pitchFamily="34" charset="0"/>
                <a:ea typeface="Arial" pitchFamily="34" charset="-122"/>
                <a:cs typeface="Arial" pitchFamily="34" charset="-120"/>
              </a:rPr>
              <a:t>Segment Contribution</a:t>
            </a:r>
            <a:endParaRPr lang="en-US" sz="1700" dirty="0"/>
          </a:p>
        </p:txBody>
      </p:sp>
      <p:sp>
        <p:nvSpPr>
          <p:cNvPr id="12" name="Shape 10"/>
          <p:cNvSpPr/>
          <p:nvPr/>
        </p:nvSpPr>
        <p:spPr>
          <a:xfrm>
            <a:off x="914400" y="4105656"/>
            <a:ext cx="731520" cy="731520"/>
          </a:xfrm>
          <a:prstGeom prst="ellipse">
            <a:avLst/>
          </a:prstGeom>
          <a:solidFill>
            <a:srgbClr val="F5F5F5"/>
          </a:solidFill>
          <a:ln w="15875">
            <a:solidFill>
              <a:srgbClr val="1E3A5F"/>
            </a:solidFill>
            <a:prstDash val="solid"/>
          </a:ln>
        </p:spPr>
        <p:txBody>
          <a:bodyPr/>
          <a:lstStyle/>
          <a:p>
            <a:endParaRPr lang="en-IN"/>
          </a:p>
        </p:txBody>
      </p:sp>
      <p:sp>
        <p:nvSpPr>
          <p:cNvPr id="13" name="Text 11"/>
          <p:cNvSpPr/>
          <p:nvPr/>
        </p:nvSpPr>
        <p:spPr>
          <a:xfrm>
            <a:off x="914400" y="4105656"/>
            <a:ext cx="731520" cy="7315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4" name="Text 12"/>
          <p:cNvSpPr/>
          <p:nvPr/>
        </p:nvSpPr>
        <p:spPr>
          <a:xfrm>
            <a:off x="1874520" y="4178808"/>
            <a:ext cx="8686800" cy="594360"/>
          </a:xfrm>
          <a:prstGeom prst="rect">
            <a:avLst/>
          </a:prstGeom>
          <a:noFill/>
          <a:ln/>
        </p:spPr>
        <p:txBody>
          <a:bodyPr wrap="square" rtlCol="0" anchor="ctr"/>
          <a:lstStyle/>
          <a:p>
            <a:pPr marL="0" indent="0">
              <a:buNone/>
            </a:pPr>
            <a:r>
              <a:rPr lang="en-US" sz="1700" b="1" dirty="0">
                <a:solidFill>
                  <a:srgbClr val="1A1A1A"/>
                </a:solidFill>
                <a:latin typeface="Arial" pitchFamily="34" charset="0"/>
                <a:ea typeface="Arial" pitchFamily="34" charset="-122"/>
                <a:cs typeface="Arial" pitchFamily="34" charset="-120"/>
              </a:rPr>
              <a:t>Bar Chart  —  </a:t>
            </a:r>
            <a:r>
              <a:rPr lang="en-US" sz="1700" dirty="0">
                <a:solidFill>
                  <a:srgbClr val="1A1A1A"/>
                </a:solidFill>
                <a:latin typeface="Arial" pitchFamily="34" charset="0"/>
                <a:ea typeface="Arial" pitchFamily="34" charset="-122"/>
                <a:cs typeface="Arial" pitchFamily="34" charset="-120"/>
              </a:rPr>
              <a:t>Top 10 Products by Sales</a:t>
            </a:r>
            <a:endParaRPr lang="en-US" sz="1700" dirty="0"/>
          </a:p>
        </p:txBody>
      </p:sp>
      <p:sp>
        <p:nvSpPr>
          <p:cNvPr id="15" name="Shape 13"/>
          <p:cNvSpPr/>
          <p:nvPr/>
        </p:nvSpPr>
        <p:spPr>
          <a:xfrm>
            <a:off x="914400" y="5001768"/>
            <a:ext cx="731520" cy="731520"/>
          </a:xfrm>
          <a:prstGeom prst="ellipse">
            <a:avLst/>
          </a:prstGeom>
          <a:solidFill>
            <a:srgbClr val="F5F5F5"/>
          </a:solidFill>
          <a:ln w="15875">
            <a:solidFill>
              <a:srgbClr val="1E3A5F"/>
            </a:solidFill>
            <a:prstDash val="solid"/>
          </a:ln>
        </p:spPr>
        <p:txBody>
          <a:bodyPr/>
          <a:lstStyle/>
          <a:p>
            <a:endParaRPr lang="en-IN"/>
          </a:p>
        </p:txBody>
      </p:sp>
      <p:sp>
        <p:nvSpPr>
          <p:cNvPr id="16" name="Text 14"/>
          <p:cNvSpPr/>
          <p:nvPr/>
        </p:nvSpPr>
        <p:spPr>
          <a:xfrm>
            <a:off x="914400" y="5001768"/>
            <a:ext cx="731520" cy="731520"/>
          </a:xfrm>
          <a:prstGeom prst="rect">
            <a:avLst/>
          </a:prstGeom>
          <a:noFill/>
          <a:ln/>
        </p:spPr>
        <p:txBody>
          <a:bodyPr wrap="square" rtlCol="0" anchor="ctr"/>
          <a:lstStyle/>
          <a:p>
            <a:pPr marL="0" indent="0" algn="ctr">
              <a:buNone/>
            </a:pPr>
            <a:r>
              <a:rPr lang="en-US" sz="2600" dirty="0">
                <a:solidFill>
                  <a:srgbClr val="000000"/>
                </a:solidFill>
              </a:rPr>
              <a:t>🎯</a:t>
            </a:r>
            <a:endParaRPr lang="en-US" sz="2600" dirty="0"/>
          </a:p>
        </p:txBody>
      </p:sp>
      <p:sp>
        <p:nvSpPr>
          <p:cNvPr id="17" name="Text 15"/>
          <p:cNvSpPr/>
          <p:nvPr/>
        </p:nvSpPr>
        <p:spPr>
          <a:xfrm>
            <a:off x="1874520" y="5074920"/>
            <a:ext cx="8686800" cy="594360"/>
          </a:xfrm>
          <a:prstGeom prst="rect">
            <a:avLst/>
          </a:prstGeom>
          <a:noFill/>
          <a:ln/>
        </p:spPr>
        <p:txBody>
          <a:bodyPr wrap="square" rtlCol="0" anchor="ctr"/>
          <a:lstStyle/>
          <a:p>
            <a:pPr marL="0" indent="0">
              <a:buNone/>
            </a:pPr>
            <a:r>
              <a:rPr lang="en-US" sz="1700" b="1" dirty="0">
                <a:solidFill>
                  <a:srgbClr val="1A1A1A"/>
                </a:solidFill>
                <a:latin typeface="Arial" pitchFamily="34" charset="0"/>
                <a:ea typeface="Arial" pitchFamily="34" charset="-122"/>
                <a:cs typeface="Arial" pitchFamily="34" charset="-120"/>
              </a:rPr>
              <a:t>Gauge  —  </a:t>
            </a:r>
            <a:r>
              <a:rPr lang="en-US" sz="1700" dirty="0">
                <a:solidFill>
                  <a:srgbClr val="1A1A1A"/>
                </a:solidFill>
                <a:latin typeface="Arial" pitchFamily="34" charset="0"/>
                <a:ea typeface="Arial" pitchFamily="34" charset="-122"/>
                <a:cs typeface="Arial" pitchFamily="34" charset="-120"/>
              </a:rPr>
              <a:t>Sales vs Target</a:t>
            </a:r>
            <a:endParaRPr lang="en-US" sz="1700" dirty="0"/>
          </a:p>
        </p:txBody>
      </p:sp>
      <p:sp>
        <p:nvSpPr>
          <p:cNvPr id="18" name="Shape 16"/>
          <p:cNvSpPr/>
          <p:nvPr/>
        </p:nvSpPr>
        <p:spPr>
          <a:xfrm>
            <a:off x="10680192" y="6400800"/>
            <a:ext cx="1371600" cy="420624"/>
          </a:xfrm>
          <a:prstGeom prst="rect">
            <a:avLst/>
          </a:prstGeom>
          <a:solidFill>
            <a:srgbClr val="FFFFFF"/>
          </a:solidFill>
          <a:ln/>
        </p:spPr>
        <p:txBody>
          <a:bodyPr/>
          <a:lstStyle/>
          <a:p>
            <a:endParaRPr lang="en-IN"/>
          </a:p>
        </p:txBody>
      </p:sp>
      <p:pic>
        <p:nvPicPr>
          <p:cNvPr id="19"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
        <p:nvSpPr>
          <p:cNvPr id="20" name="Text 17"/>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50292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Live Dashboard Preview</a:t>
            </a:r>
            <a:endParaRPr lang="en-US" sz="2400" dirty="0"/>
          </a:p>
        </p:txBody>
      </p:sp>
      <p:pic>
        <p:nvPicPr>
          <p:cNvPr id="3" name="Image 0" descr="/home/claude/work/assets/dashboard_overview.png"/>
          <p:cNvPicPr>
            <a:picLocks noChangeAspect="1"/>
          </p:cNvPicPr>
          <p:nvPr/>
        </p:nvPicPr>
        <p:blipFill>
          <a:blip r:embed="rId3"/>
          <a:stretch>
            <a:fillRect/>
          </a:stretch>
        </p:blipFill>
        <p:spPr>
          <a:xfrm>
            <a:off x="548639" y="868681"/>
            <a:ext cx="10981721" cy="5505840"/>
          </a:xfrm>
          <a:prstGeom prst="rect">
            <a:avLst/>
          </a:prstGeom>
        </p:spPr>
      </p:pic>
      <p:sp>
        <p:nvSpPr>
          <p:cNvPr id="4" name="Shape 1"/>
          <p:cNvSpPr/>
          <p:nvPr/>
        </p:nvSpPr>
        <p:spPr>
          <a:xfrm>
            <a:off x="10680192" y="6400800"/>
            <a:ext cx="1371600" cy="420624"/>
          </a:xfrm>
          <a:prstGeom prst="rect">
            <a:avLst/>
          </a:prstGeom>
          <a:solidFill>
            <a:srgbClr val="FFFFFF"/>
          </a:solidFill>
          <a:ln/>
        </p:spPr>
        <p:txBody>
          <a:bodyPr/>
          <a:lstStyle/>
          <a:p>
            <a:endParaRPr lang="en-IN"/>
          </a:p>
        </p:txBody>
      </p:sp>
      <p:pic>
        <p:nvPicPr>
          <p:cNvPr id="5" name="Image 1" descr="/home/claude/work/assets/logo.png"/>
          <p:cNvPicPr>
            <a:picLocks noChangeAspect="1"/>
          </p:cNvPicPr>
          <p:nvPr/>
        </p:nvPicPr>
        <p:blipFill>
          <a:blip r:embed="rId4"/>
          <a:stretch>
            <a:fillRect/>
          </a:stretch>
        </p:blipFill>
        <p:spPr>
          <a:xfrm>
            <a:off x="10771632" y="6473952"/>
            <a:ext cx="1188720" cy="248040"/>
          </a:xfrm>
          <a:prstGeom prst="rect">
            <a:avLst/>
          </a:prstGeom>
        </p:spPr>
      </p:pic>
      <p:sp>
        <p:nvSpPr>
          <p:cNvPr id="6" name="Text 2"/>
          <p:cNvSpPr/>
          <p:nvPr/>
        </p:nvSpPr>
        <p:spPr>
          <a:xfrm>
            <a:off x="365760" y="6492240"/>
            <a:ext cx="365760" cy="274320"/>
          </a:xfrm>
          <a:prstGeom prst="rect">
            <a:avLst/>
          </a:prstGeom>
          <a:noFill/>
          <a:ln/>
        </p:spPr>
        <p:txBody>
          <a:bodyPr wrap="square" rtlCol="0" anchor="ctr"/>
          <a:lstStyle/>
          <a:p>
            <a:pPr marL="0" indent="0" algn="l">
              <a:buNone/>
            </a:pPr>
            <a:r>
              <a:rPr lang="en-US" sz="1000" dirty="0">
                <a:solidFill>
                  <a:srgbClr val="FFFFFF"/>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48640" y="228600"/>
            <a:ext cx="11091672" cy="50292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Region Details — Drill-Through Page</a:t>
            </a:r>
            <a:endParaRPr lang="en-US" sz="2400" dirty="0"/>
          </a:p>
        </p:txBody>
      </p:sp>
      <p:pic>
        <p:nvPicPr>
          <p:cNvPr id="3" name="Image 0" descr="/home/claude/work/assets/region_details.png"/>
          <p:cNvPicPr>
            <a:picLocks noChangeAspect="1"/>
          </p:cNvPicPr>
          <p:nvPr/>
        </p:nvPicPr>
        <p:blipFill>
          <a:blip r:embed="rId3"/>
          <a:stretch>
            <a:fillRect/>
          </a:stretch>
        </p:blipFill>
        <p:spPr>
          <a:xfrm>
            <a:off x="548639" y="868681"/>
            <a:ext cx="11091671" cy="5505840"/>
          </a:xfrm>
          <a:prstGeom prst="rect">
            <a:avLst/>
          </a:prstGeom>
        </p:spPr>
      </p:pic>
      <p:sp>
        <p:nvSpPr>
          <p:cNvPr id="4" name="Shape 1"/>
          <p:cNvSpPr/>
          <p:nvPr/>
        </p:nvSpPr>
        <p:spPr>
          <a:xfrm>
            <a:off x="10680192" y="6400800"/>
            <a:ext cx="1371600" cy="420624"/>
          </a:xfrm>
          <a:prstGeom prst="rect">
            <a:avLst/>
          </a:prstGeom>
          <a:solidFill>
            <a:srgbClr val="FFFFFF"/>
          </a:solidFill>
          <a:ln/>
        </p:spPr>
        <p:txBody>
          <a:bodyPr/>
          <a:lstStyle/>
          <a:p>
            <a:endParaRPr lang="en-IN"/>
          </a:p>
        </p:txBody>
      </p:sp>
      <p:pic>
        <p:nvPicPr>
          <p:cNvPr id="5" name="Image 1" descr="/home/claude/work/assets/logo.png"/>
          <p:cNvPicPr>
            <a:picLocks noChangeAspect="1"/>
          </p:cNvPicPr>
          <p:nvPr/>
        </p:nvPicPr>
        <p:blipFill>
          <a:blip r:embed="rId4"/>
          <a:stretch>
            <a:fillRect/>
          </a:stretch>
        </p:blipFill>
        <p:spPr>
          <a:xfrm>
            <a:off x="10771632" y="6473952"/>
            <a:ext cx="1188720" cy="248040"/>
          </a:xfrm>
          <a:prstGeom prst="rect">
            <a:avLst/>
          </a:prstGeom>
        </p:spPr>
      </p:pic>
      <p:sp>
        <p:nvSpPr>
          <p:cNvPr id="6" name="Text 2"/>
          <p:cNvSpPr/>
          <p:nvPr/>
        </p:nvSpPr>
        <p:spPr>
          <a:xfrm>
            <a:off x="365760" y="6492240"/>
            <a:ext cx="365760" cy="274320"/>
          </a:xfrm>
          <a:prstGeom prst="rect">
            <a:avLst/>
          </a:prstGeom>
          <a:noFill/>
          <a:ln/>
        </p:spPr>
        <p:txBody>
          <a:bodyPr wrap="square" rtlCol="0" anchor="ctr"/>
          <a:lstStyle/>
          <a:p>
            <a:pPr marL="0" indent="0" algn="l">
              <a:buNone/>
            </a:pPr>
            <a:r>
              <a:rPr lang="en-US" sz="1000" dirty="0">
                <a:solidFill>
                  <a:srgbClr val="FFFFFF"/>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Sales Performance by Region</a:t>
            </a:r>
            <a:endParaRPr lang="en-US" sz="2600" dirty="0"/>
          </a:p>
        </p:txBody>
      </p:sp>
      <p:graphicFrame>
        <p:nvGraphicFramePr>
          <p:cNvPr id="3" name="Chart 0"/>
          <p:cNvGraphicFramePr/>
          <p:nvPr/>
        </p:nvGraphicFramePr>
        <p:xfrm>
          <a:off x="731520" y="1325880"/>
          <a:ext cx="649224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498080" y="1737360"/>
            <a:ext cx="3977640" cy="3291840"/>
          </a:xfrm>
          <a:prstGeom prst="rect">
            <a:avLst/>
          </a:prstGeom>
          <a:noFill/>
          <a:ln/>
        </p:spPr>
        <p:txBody>
          <a:bodyPr wrap="square" rtlCol="0" anchor="t"/>
          <a:lstStyle/>
          <a:p>
            <a:pPr marL="342900" indent="-342900">
              <a:spcAft>
                <a:spcPts val="1600"/>
              </a:spcAft>
              <a:buSzPct val="100000"/>
              <a:buChar char="✓"/>
            </a:pPr>
            <a:r>
              <a:rPr lang="en-US" sz="1450" dirty="0">
                <a:solidFill>
                  <a:srgbClr val="1A1A1A"/>
                </a:solidFill>
                <a:latin typeface="Arial" pitchFamily="34" charset="0"/>
                <a:ea typeface="Arial" pitchFamily="34" charset="-122"/>
                <a:cs typeface="Arial" pitchFamily="34" charset="-120"/>
              </a:rPr>
              <a:t>Central leads with $2.8M in sales</a:t>
            </a:r>
            <a:endParaRPr lang="en-US" sz="1450" dirty="0"/>
          </a:p>
          <a:p>
            <a:pPr marL="342900" indent="-342900">
              <a:spcAft>
                <a:spcPts val="1600"/>
              </a:spcAft>
              <a:buSzPct val="100000"/>
              <a:buChar char="✓"/>
            </a:pPr>
            <a:r>
              <a:rPr lang="en-US" sz="1450" dirty="0">
                <a:solidFill>
                  <a:srgbClr val="1A1A1A"/>
                </a:solidFill>
                <a:latin typeface="Arial" pitchFamily="34" charset="0"/>
                <a:ea typeface="Arial" pitchFamily="34" charset="-122"/>
                <a:cs typeface="Arial" pitchFamily="34" charset="-120"/>
              </a:rPr>
              <a:t>Canada is the smallest of the regions shown, at $</a:t>
            </a:r>
            <a:r>
              <a:rPr lang="en-IN" sz="1600" dirty="0"/>
              <a:t> 67K in sales</a:t>
            </a:r>
            <a:endParaRPr lang="en-US" sz="1450" dirty="0"/>
          </a:p>
        </p:txBody>
      </p:sp>
      <p:sp>
        <p:nvSpPr>
          <p:cNvPr id="5" name="Shape 2"/>
          <p:cNvSpPr/>
          <p:nvPr/>
        </p:nvSpPr>
        <p:spPr>
          <a:xfrm>
            <a:off x="10680192" y="6400800"/>
            <a:ext cx="1371600" cy="420624"/>
          </a:xfrm>
          <a:prstGeom prst="rect">
            <a:avLst/>
          </a:prstGeom>
          <a:solidFill>
            <a:srgbClr val="FFFFFF"/>
          </a:solidFill>
          <a:ln/>
        </p:spPr>
        <p:txBody>
          <a:bodyPr/>
          <a:lstStyle/>
          <a:p>
            <a:endParaRPr lang="en-IN"/>
          </a:p>
        </p:txBody>
      </p:sp>
      <p:pic>
        <p:nvPicPr>
          <p:cNvPr id="6" name="Image 0" descr="/home/claude/work/assets/logo.png"/>
          <p:cNvPicPr>
            <a:picLocks noChangeAspect="1"/>
          </p:cNvPicPr>
          <p:nvPr/>
        </p:nvPicPr>
        <p:blipFill>
          <a:blip r:embed="rId4"/>
          <a:stretch>
            <a:fillRect/>
          </a:stretch>
        </p:blipFill>
        <p:spPr>
          <a:xfrm>
            <a:off x="10771632" y="6473952"/>
            <a:ext cx="1188720" cy="248040"/>
          </a:xfrm>
          <a:prstGeom prst="rect">
            <a:avLst/>
          </a:prstGeom>
        </p:spPr>
      </p:pic>
      <p:sp>
        <p:nvSpPr>
          <p:cNvPr id="7" name="Text 3"/>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Segment Contribution</a:t>
            </a:r>
            <a:endParaRPr lang="en-US" sz="2600" dirty="0"/>
          </a:p>
        </p:txBody>
      </p:sp>
      <p:graphicFrame>
        <p:nvGraphicFramePr>
          <p:cNvPr id="3" name="Chart 0"/>
          <p:cNvGraphicFramePr/>
          <p:nvPr/>
        </p:nvGraphicFramePr>
        <p:xfrm>
          <a:off x="822960" y="1325880"/>
          <a:ext cx="548640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6675120" y="2377440"/>
            <a:ext cx="4754880" cy="2743200"/>
          </a:xfrm>
          <a:prstGeom prst="rect">
            <a:avLst/>
          </a:prstGeom>
          <a:noFill/>
          <a:ln/>
        </p:spPr>
        <p:txBody>
          <a:bodyPr wrap="square" rtlCol="0" anchor="t"/>
          <a:lstStyle/>
          <a:p>
            <a:pPr marL="342900" indent="-342900">
              <a:spcAft>
                <a:spcPts val="2000"/>
              </a:spcAft>
              <a:buSzPct val="100000"/>
              <a:buChar char="✓"/>
            </a:pPr>
            <a:r>
              <a:rPr lang="en-US" sz="1600" dirty="0">
                <a:solidFill>
                  <a:srgbClr val="1A1A1A"/>
                </a:solidFill>
                <a:latin typeface="Arial" pitchFamily="34" charset="0"/>
                <a:ea typeface="Arial" pitchFamily="34" charset="-122"/>
                <a:cs typeface="Arial" pitchFamily="34" charset="-120"/>
              </a:rPr>
              <a:t>Consumer drives 51.48% of total sales ($6.51M)</a:t>
            </a:r>
            <a:endParaRPr lang="en-US" sz="1600" dirty="0"/>
          </a:p>
          <a:p>
            <a:pPr marL="342900" indent="-342900">
              <a:spcAft>
                <a:spcPts val="2000"/>
              </a:spcAft>
              <a:buSzPct val="100000"/>
              <a:buChar char="✓"/>
            </a:pPr>
            <a:r>
              <a:rPr lang="en-US" sz="1600" dirty="0">
                <a:solidFill>
                  <a:srgbClr val="1A1A1A"/>
                </a:solidFill>
                <a:latin typeface="Arial" pitchFamily="34" charset="0"/>
                <a:ea typeface="Arial" pitchFamily="34" charset="-122"/>
                <a:cs typeface="Arial" pitchFamily="34" charset="-120"/>
              </a:rPr>
              <a:t>Corporate contributes 30.25% ($3.82M)</a:t>
            </a:r>
            <a:endParaRPr lang="en-US" sz="1600" dirty="0"/>
          </a:p>
          <a:p>
            <a:pPr marL="342900" indent="-342900">
              <a:spcAft>
                <a:spcPts val="2000"/>
              </a:spcAft>
              <a:buSzPct val="100000"/>
              <a:buChar char="✓"/>
            </a:pPr>
            <a:r>
              <a:rPr lang="en-US" sz="1600" dirty="0">
                <a:solidFill>
                  <a:srgbClr val="1A1A1A"/>
                </a:solidFill>
                <a:latin typeface="Arial" pitchFamily="34" charset="0"/>
                <a:ea typeface="Arial" pitchFamily="34" charset="-122"/>
                <a:cs typeface="Arial" pitchFamily="34" charset="-120"/>
              </a:rPr>
              <a:t>Home Office is the smallest segment at 18.27% ($2.31M)</a:t>
            </a:r>
            <a:endParaRPr lang="en-US" sz="1600" dirty="0"/>
          </a:p>
        </p:txBody>
      </p:sp>
      <p:sp>
        <p:nvSpPr>
          <p:cNvPr id="5" name="Shape 2"/>
          <p:cNvSpPr/>
          <p:nvPr/>
        </p:nvSpPr>
        <p:spPr>
          <a:xfrm>
            <a:off x="10680192" y="6400800"/>
            <a:ext cx="1371600" cy="420624"/>
          </a:xfrm>
          <a:prstGeom prst="rect">
            <a:avLst/>
          </a:prstGeom>
          <a:solidFill>
            <a:srgbClr val="FFFFFF"/>
          </a:solidFill>
          <a:ln/>
        </p:spPr>
        <p:txBody>
          <a:bodyPr/>
          <a:lstStyle/>
          <a:p>
            <a:endParaRPr lang="en-IN"/>
          </a:p>
        </p:txBody>
      </p:sp>
      <p:pic>
        <p:nvPicPr>
          <p:cNvPr id="6" name="Image 0" descr="/home/claude/work/assets/logo.png"/>
          <p:cNvPicPr>
            <a:picLocks noChangeAspect="1"/>
          </p:cNvPicPr>
          <p:nvPr/>
        </p:nvPicPr>
        <p:blipFill>
          <a:blip r:embed="rId4"/>
          <a:stretch>
            <a:fillRect/>
          </a:stretch>
        </p:blipFill>
        <p:spPr>
          <a:xfrm>
            <a:off x="10771632" y="6473952"/>
            <a:ext cx="1188720" cy="248040"/>
          </a:xfrm>
          <a:prstGeom prst="rect">
            <a:avLst/>
          </a:prstGeom>
        </p:spPr>
      </p:pic>
      <p:sp>
        <p:nvSpPr>
          <p:cNvPr id="7" name="Text 3"/>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Top-Performing Products</a:t>
            </a:r>
            <a:endParaRPr lang="en-US" sz="2600" dirty="0"/>
          </a:p>
        </p:txBody>
      </p:sp>
      <p:graphicFrame>
        <p:nvGraphicFramePr>
          <p:cNvPr id="3" name="Chart 0"/>
          <p:cNvGraphicFramePr/>
          <p:nvPr>
            <p:extLst>
              <p:ext uri="{D42A27DB-BD31-4B8C-83A1-F6EECF244321}">
                <p14:modId xmlns:p14="http://schemas.microsoft.com/office/powerpoint/2010/main" val="868273262"/>
              </p:ext>
            </p:extLst>
          </p:nvPr>
        </p:nvGraphicFramePr>
        <p:xfrm>
          <a:off x="731520" y="1371600"/>
          <a:ext cx="10725912"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p:nvPr/>
        </p:nvSpPr>
        <p:spPr>
          <a:xfrm>
            <a:off x="731520" y="5257800"/>
            <a:ext cx="10725912" cy="457200"/>
          </a:xfrm>
          <a:prstGeom prst="rect">
            <a:avLst/>
          </a:prstGeom>
          <a:noFill/>
          <a:ln/>
        </p:spPr>
        <p:txBody>
          <a:bodyPr wrap="square" rtlCol="0" anchor="ctr"/>
          <a:lstStyle/>
          <a:p>
            <a:pPr marL="0" indent="0" algn="ctr">
              <a:buNone/>
            </a:pPr>
            <a:r>
              <a:rPr lang="en-US" sz="1300" i="1" dirty="0">
                <a:solidFill>
                  <a:srgbClr val="5A5A5A"/>
                </a:solidFill>
                <a:latin typeface="Arial" pitchFamily="34" charset="0"/>
                <a:ea typeface="Arial" pitchFamily="34" charset="-122"/>
                <a:cs typeface="Arial" pitchFamily="34" charset="-120"/>
              </a:rPr>
              <a:t>Leaders within the Top 10 Products by Sales visual — the full ranking is scrollable on the live dashboard.</a:t>
            </a:r>
            <a:endParaRPr lang="en-US" sz="1300" dirty="0"/>
          </a:p>
        </p:txBody>
      </p:sp>
      <p:sp>
        <p:nvSpPr>
          <p:cNvPr id="5" name="Shape 2"/>
          <p:cNvSpPr/>
          <p:nvPr/>
        </p:nvSpPr>
        <p:spPr>
          <a:xfrm>
            <a:off x="10680192" y="6400800"/>
            <a:ext cx="1371600" cy="420624"/>
          </a:xfrm>
          <a:prstGeom prst="rect">
            <a:avLst/>
          </a:prstGeom>
          <a:solidFill>
            <a:srgbClr val="FFFFFF"/>
          </a:solidFill>
          <a:ln/>
        </p:spPr>
        <p:txBody>
          <a:bodyPr/>
          <a:lstStyle/>
          <a:p>
            <a:endParaRPr lang="en-IN"/>
          </a:p>
        </p:txBody>
      </p:sp>
      <p:pic>
        <p:nvPicPr>
          <p:cNvPr id="6" name="Image 0" descr="/home/claude/work/assets/logo.png"/>
          <p:cNvPicPr>
            <a:picLocks noChangeAspect="1"/>
          </p:cNvPicPr>
          <p:nvPr/>
        </p:nvPicPr>
        <p:blipFill>
          <a:blip r:embed="rId4"/>
          <a:stretch>
            <a:fillRect/>
          </a:stretch>
        </p:blipFill>
        <p:spPr>
          <a:xfrm>
            <a:off x="10771632" y="6473952"/>
            <a:ext cx="1188720" cy="248040"/>
          </a:xfrm>
          <a:prstGeom prst="rect">
            <a:avLst/>
          </a:prstGeom>
        </p:spPr>
      </p:pic>
      <p:sp>
        <p:nvSpPr>
          <p:cNvPr id="7" name="Text 3"/>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Business Questions</a:t>
            </a:r>
            <a:endParaRPr lang="en-US" sz="2600" dirty="0"/>
          </a:p>
        </p:txBody>
      </p:sp>
      <p:sp>
        <p:nvSpPr>
          <p:cNvPr id="3" name="Text 1"/>
          <p:cNvSpPr/>
          <p:nvPr/>
        </p:nvSpPr>
        <p:spPr>
          <a:xfrm>
            <a:off x="548640" y="1282390"/>
            <a:ext cx="10908792" cy="5191562"/>
          </a:xfrm>
          <a:prstGeom prst="rect">
            <a:avLst/>
          </a:prstGeom>
          <a:noFill/>
          <a:ln/>
        </p:spPr>
        <p:txBody>
          <a:bodyPr wrap="square" rtlCol="0" anchor="t"/>
          <a:lstStyle/>
          <a:p>
            <a:pPr marL="285750" indent="-285750">
              <a:spcAft>
                <a:spcPts val="1200"/>
              </a:spcAft>
              <a:buSzPct val="100000"/>
              <a:buFont typeface="Wingdings" panose="05000000000000000000" pitchFamily="2" charset="2"/>
              <a:buChar char="ü"/>
            </a:pPr>
            <a:endParaRPr lang="en-US" dirty="0">
              <a:ea typeface="Calibri" panose="020F0502020204030204" pitchFamily="34" charset="0"/>
              <a:cs typeface="Arial" panose="020B0604020202020204" pitchFamily="34" charset="0"/>
            </a:endParaRPr>
          </a:p>
        </p:txBody>
      </p:sp>
      <p:sp>
        <p:nvSpPr>
          <p:cNvPr id="4" name="Shape 2"/>
          <p:cNvSpPr/>
          <p:nvPr/>
        </p:nvSpPr>
        <p:spPr>
          <a:xfrm>
            <a:off x="10680192" y="6400800"/>
            <a:ext cx="1371600" cy="420624"/>
          </a:xfrm>
          <a:prstGeom prst="rect">
            <a:avLst/>
          </a:prstGeom>
          <a:solidFill>
            <a:srgbClr val="FFFFFF"/>
          </a:solidFill>
          <a:ln/>
        </p:spPr>
        <p:txBody>
          <a:bodyPr/>
          <a:lstStyle/>
          <a:p>
            <a:endParaRPr lang="en-IN"/>
          </a:p>
        </p:txBody>
      </p:sp>
      <p:pic>
        <p:nvPicPr>
          <p:cNvPr id="5"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
        <p:nvSpPr>
          <p:cNvPr id="6" name="Text 3"/>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graphicFrame>
        <p:nvGraphicFramePr>
          <p:cNvPr id="11" name="Chart 0">
            <a:extLst>
              <a:ext uri="{FF2B5EF4-FFF2-40B4-BE49-F238E27FC236}">
                <a16:creationId xmlns:a16="http://schemas.microsoft.com/office/drawing/2014/main" id="{F1F0A4C3-A826-9F89-A0E0-457BED784567}"/>
              </a:ext>
            </a:extLst>
          </p:cNvPr>
          <p:cNvGraphicFramePr/>
          <p:nvPr>
            <p:extLst>
              <p:ext uri="{D42A27DB-BD31-4B8C-83A1-F6EECF244321}">
                <p14:modId xmlns:p14="http://schemas.microsoft.com/office/powerpoint/2010/main" val="4065363707"/>
              </p:ext>
            </p:extLst>
          </p:nvPr>
        </p:nvGraphicFramePr>
        <p:xfrm>
          <a:off x="1237785" y="4359702"/>
          <a:ext cx="6300439" cy="1918010"/>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Box 14">
            <a:extLst>
              <a:ext uri="{FF2B5EF4-FFF2-40B4-BE49-F238E27FC236}">
                <a16:creationId xmlns:a16="http://schemas.microsoft.com/office/drawing/2014/main" id="{EAB9246C-7061-6AE3-B9C3-A10CFB96E9EA}"/>
              </a:ext>
            </a:extLst>
          </p:cNvPr>
          <p:cNvSpPr txBox="1"/>
          <p:nvPr/>
        </p:nvSpPr>
        <p:spPr>
          <a:xfrm>
            <a:off x="555331" y="1128692"/>
            <a:ext cx="9695539" cy="4985980"/>
          </a:xfrm>
          <a:prstGeom prst="rect">
            <a:avLst/>
          </a:prstGeom>
          <a:noFill/>
        </p:spPr>
        <p:txBody>
          <a:bodyPr wrap="square">
            <a:spAutoFit/>
          </a:bodyPr>
          <a:lstStyle/>
          <a:p>
            <a:r>
              <a:rPr lang="en-IN" sz="2000" b="1" dirty="0"/>
              <a:t>Q1. Which regions have highest &amp; lowest profits? </a:t>
            </a:r>
          </a:p>
          <a:p>
            <a:endParaRPr lang="en-IN" b="1" dirty="0"/>
          </a:p>
          <a:p>
            <a:r>
              <a:rPr lang="en-IN" dirty="0"/>
              <a:t>Central is the most profitable region - about $311.40k profit. Canada has the lowest profit –about $17.82K </a:t>
            </a:r>
          </a:p>
          <a:p>
            <a:endParaRPr lang="en-IN" dirty="0"/>
          </a:p>
          <a:p>
            <a:r>
              <a:rPr lang="en-IN" sz="2000" b="1" dirty="0"/>
              <a:t> Q2. Are discounts reducing profits in some orders? </a:t>
            </a:r>
          </a:p>
          <a:p>
            <a:endParaRPr lang="en-IN" sz="2000" b="1" dirty="0"/>
          </a:p>
          <a:p>
            <a:r>
              <a:rPr lang="en-IN" dirty="0"/>
              <a:t>Yes. Higher discounts tend to reduce profit margins. Deep discounts, especially above 30%, can result in very low or negative profit. Discounts should therefore be used selectively rather than across all orders.</a:t>
            </a:r>
          </a:p>
          <a:p>
            <a:endParaRPr lang="en-IN" dirty="0"/>
          </a:p>
          <a:p>
            <a:r>
              <a:rPr lang="en-IN" sz="2000" b="1" dirty="0"/>
              <a:t> Q3. Which segments are most profitable?</a:t>
            </a:r>
          </a:p>
          <a:p>
            <a:endParaRPr lang="en-IN" sz="2000" b="1" dirty="0"/>
          </a:p>
          <a:p>
            <a:r>
              <a:rPr lang="en-IN" dirty="0"/>
              <a:t> Consumer is the most profitable segment - about $749.24K profit. Corporate comes second - about $441.21K. Home Office is the lowest - about 277.01K. Therefore, Consumer customers should remain a key focus while improving Home Office performance.</a:t>
            </a:r>
          </a:p>
          <a:p>
            <a:r>
              <a:rPr lang="en-IN" sz="2000" b="1" dirty="0"/>
              <a:t> </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endParaRPr lang="en-US" sz="2600" dirty="0"/>
          </a:p>
        </p:txBody>
      </p:sp>
      <p:sp>
        <p:nvSpPr>
          <p:cNvPr id="4" name="Shape 1"/>
          <p:cNvSpPr/>
          <p:nvPr/>
        </p:nvSpPr>
        <p:spPr>
          <a:xfrm>
            <a:off x="10680192" y="6400800"/>
            <a:ext cx="1371600" cy="420624"/>
          </a:xfrm>
          <a:prstGeom prst="rect">
            <a:avLst/>
          </a:prstGeom>
          <a:solidFill>
            <a:srgbClr val="FFFFFF"/>
          </a:solidFill>
          <a:ln/>
        </p:spPr>
        <p:txBody>
          <a:bodyPr/>
          <a:lstStyle/>
          <a:p>
            <a:endParaRPr lang="en-IN"/>
          </a:p>
        </p:txBody>
      </p:sp>
      <p:pic>
        <p:nvPicPr>
          <p:cNvPr id="5"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
        <p:nvSpPr>
          <p:cNvPr id="6" name="TextBox 5">
            <a:extLst>
              <a:ext uri="{FF2B5EF4-FFF2-40B4-BE49-F238E27FC236}">
                <a16:creationId xmlns:a16="http://schemas.microsoft.com/office/drawing/2014/main" id="{301419F1-6314-F416-6ADC-3643DE8603DD}"/>
              </a:ext>
            </a:extLst>
          </p:cNvPr>
          <p:cNvSpPr txBox="1"/>
          <p:nvPr/>
        </p:nvSpPr>
        <p:spPr>
          <a:xfrm>
            <a:off x="379476" y="320040"/>
            <a:ext cx="11429999" cy="5724644"/>
          </a:xfrm>
          <a:prstGeom prst="rect">
            <a:avLst/>
          </a:prstGeom>
          <a:noFill/>
        </p:spPr>
        <p:txBody>
          <a:bodyPr wrap="square">
            <a:spAutoFit/>
          </a:bodyPr>
          <a:lstStyle/>
          <a:p>
            <a:r>
              <a:rPr lang="en-IN" sz="2000" b="1" dirty="0"/>
              <a:t>Q4. How many orders are returned per region? </a:t>
            </a:r>
          </a:p>
          <a:p>
            <a:endParaRPr lang="en-IN" sz="2000" b="1" dirty="0"/>
          </a:p>
          <a:p>
            <a:pPr>
              <a:spcAft>
                <a:spcPts val="1800"/>
              </a:spcAft>
              <a:buSzPct val="100000"/>
            </a:pPr>
            <a:r>
              <a:rPr lang="en-IN" dirty="0"/>
              <a:t>Canada has the highest number of returned orders and is the main region requiring attention. The other regions have comparatively fewer returns . This suggests that return-related issues in the Canada should be investigated, particularly around delivery, product quality and customer expectations.</a:t>
            </a:r>
          </a:p>
          <a:p>
            <a:pPr>
              <a:spcAft>
                <a:spcPts val="1800"/>
              </a:spcAft>
              <a:buSzPct val="100000"/>
            </a:pPr>
            <a:r>
              <a:rPr lang="en-IN" sz="2000" b="1" dirty="0"/>
              <a:t>Q5. Which products generate the most revenue? </a:t>
            </a:r>
          </a:p>
          <a:p>
            <a:r>
              <a:rPr lang="en-IN" dirty="0"/>
              <a:t>Apple Smart Phone is the top-selling product, generating approximately 87K in sales. Other strong products include Cisco Smart Phone, Motorola Smart Phone, and Nokia Smartphone.</a:t>
            </a:r>
            <a:r>
              <a:rPr lang="en-US" dirty="0"/>
              <a:t> </a:t>
            </a:r>
          </a:p>
          <a:p>
            <a:endParaRPr lang="en-US" dirty="0"/>
          </a:p>
          <a:p>
            <a:r>
              <a:rPr lang="en-US" sz="2000" b="1" dirty="0"/>
              <a:t>Q6. Which shipping modes are most cost-effective? </a:t>
            </a:r>
          </a:p>
          <a:p>
            <a:endParaRPr lang="en-US" sz="2000" b="1" dirty="0"/>
          </a:p>
          <a:p>
            <a:r>
              <a:rPr lang="en-US" dirty="0"/>
              <a:t>Standard Class is the dominant and most cost-effective shipping mode. It accounts for roughly 59% of sales/orders and generates the highest overall profit among shipping modes. The business should encourage Standard Class where fast delivery is not essential. </a:t>
            </a:r>
          </a:p>
          <a:p>
            <a:endParaRPr lang="en-US" dirty="0"/>
          </a:p>
          <a:p>
            <a:r>
              <a:rPr lang="en-US" sz="2000" b="1" dirty="0"/>
              <a:t>Q7. Are regional sales managers achieving balanced performance? </a:t>
            </a:r>
          </a:p>
          <a:p>
            <a:r>
              <a:rPr lang="en-US" dirty="0"/>
              <a:t>No, performance is not fully balanced. Aaron Bergman - Central manages the strongest region. North is also performing strongly.</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Business Insights &amp; Recommendations</a:t>
            </a:r>
            <a:endParaRPr lang="en-US" sz="2600" dirty="0"/>
          </a:p>
        </p:txBody>
      </p:sp>
      <p:sp>
        <p:nvSpPr>
          <p:cNvPr id="3" name="Text 1"/>
          <p:cNvSpPr/>
          <p:nvPr/>
        </p:nvSpPr>
        <p:spPr>
          <a:xfrm>
            <a:off x="731520" y="1280160"/>
            <a:ext cx="10725912" cy="457200"/>
          </a:xfrm>
          <a:prstGeom prst="rect">
            <a:avLst/>
          </a:prstGeom>
          <a:noFill/>
          <a:ln/>
        </p:spPr>
        <p:txBody>
          <a:bodyPr wrap="square" rtlCol="0" anchor="ctr"/>
          <a:lstStyle/>
          <a:p>
            <a:pPr marL="0" indent="0">
              <a:buNone/>
            </a:pPr>
            <a:endParaRPr lang="en-US" sz="1450" dirty="0"/>
          </a:p>
        </p:txBody>
      </p:sp>
      <p:sp>
        <p:nvSpPr>
          <p:cNvPr id="4" name="Text 2"/>
          <p:cNvSpPr/>
          <p:nvPr/>
        </p:nvSpPr>
        <p:spPr>
          <a:xfrm>
            <a:off x="731520" y="1280160"/>
            <a:ext cx="10725912" cy="5349240"/>
          </a:xfrm>
          <a:prstGeom prst="rect">
            <a:avLst/>
          </a:prstGeom>
          <a:noFill/>
          <a:ln/>
        </p:spPr>
        <p:txBody>
          <a:bodyPr wrap="square" rtlCol="0" anchor="t"/>
          <a:lstStyle/>
          <a:p>
            <a:pPr>
              <a:spcAft>
                <a:spcPts val="2000"/>
              </a:spcAft>
              <a:buSzPct val="100000"/>
            </a:pPr>
            <a:r>
              <a:rPr lang="en-IN" b="1" dirty="0"/>
              <a:t>Optimize discount strategy</a:t>
            </a:r>
            <a:r>
              <a:rPr lang="en-IN" dirty="0"/>
              <a:t>: Avoid excessive discounts on products where margins are already low.</a:t>
            </a:r>
          </a:p>
          <a:p>
            <a:pPr>
              <a:spcAft>
                <a:spcPts val="2000"/>
              </a:spcAft>
              <a:buSzPct val="100000"/>
            </a:pPr>
            <a:r>
              <a:rPr lang="en-IN" b="1" dirty="0"/>
              <a:t>Focus on high-performing regions</a:t>
            </a:r>
            <a:r>
              <a:rPr lang="en-IN" dirty="0"/>
              <a:t>: Strengthen sales strategies in profitable regions while investigating weaker markets.</a:t>
            </a:r>
          </a:p>
          <a:p>
            <a:pPr>
              <a:spcAft>
                <a:spcPts val="2000"/>
              </a:spcAft>
              <a:buSzPct val="100000"/>
            </a:pPr>
            <a:r>
              <a:rPr lang="en-IN" b="1" dirty="0"/>
              <a:t>Monitor returned orders: </a:t>
            </a:r>
            <a:r>
              <a:rPr lang="en-IN" dirty="0"/>
              <a:t>Identify the reasons behind high returns and take corrective action. </a:t>
            </a:r>
          </a:p>
          <a:p>
            <a:pPr>
              <a:spcAft>
                <a:spcPts val="2000"/>
              </a:spcAft>
              <a:buSzPct val="100000"/>
            </a:pPr>
            <a:r>
              <a:rPr lang="en-IN" b="1" dirty="0"/>
              <a:t>Prioritize top-selling products: </a:t>
            </a:r>
            <a:r>
              <a:rPr lang="en-IN" dirty="0"/>
              <a:t>Maintain adequate inventory for products generating strong sales. </a:t>
            </a:r>
          </a:p>
          <a:p>
            <a:pPr>
              <a:spcAft>
                <a:spcPts val="2000"/>
              </a:spcAft>
              <a:buSzPct val="100000"/>
            </a:pPr>
            <a:r>
              <a:rPr lang="en-IN" b="1" dirty="0"/>
              <a:t>Improve segment-focused strategies: </a:t>
            </a:r>
            <a:r>
              <a:rPr lang="en-IN" dirty="0"/>
              <a:t>Develop targeted strategies for the customer segments contributing more profit.</a:t>
            </a:r>
            <a:endParaRPr lang="en-US" dirty="0"/>
          </a:p>
        </p:txBody>
      </p:sp>
      <p:pic>
        <p:nvPicPr>
          <p:cNvPr id="5" name="Image 0" descr="/home/claude/work/assets/sales_growth.jpg"/>
          <p:cNvPicPr>
            <a:picLocks noChangeAspect="1"/>
          </p:cNvPicPr>
          <p:nvPr/>
        </p:nvPicPr>
        <p:blipFill>
          <a:blip r:embed="rId3"/>
          <a:stretch>
            <a:fillRect/>
          </a:stretch>
        </p:blipFill>
        <p:spPr>
          <a:xfrm>
            <a:off x="7845552" y="4253986"/>
            <a:ext cx="2834640" cy="1920240"/>
          </a:xfrm>
          <a:prstGeom prst="rect">
            <a:avLst/>
          </a:prstGeom>
        </p:spPr>
      </p:pic>
      <p:sp>
        <p:nvSpPr>
          <p:cNvPr id="6" name="Shape 3"/>
          <p:cNvSpPr/>
          <p:nvPr/>
        </p:nvSpPr>
        <p:spPr>
          <a:xfrm>
            <a:off x="10680192" y="6400800"/>
            <a:ext cx="1371600" cy="420624"/>
          </a:xfrm>
          <a:prstGeom prst="rect">
            <a:avLst/>
          </a:prstGeom>
          <a:solidFill>
            <a:srgbClr val="FFFFFF"/>
          </a:solidFill>
          <a:ln/>
        </p:spPr>
        <p:txBody>
          <a:bodyPr/>
          <a:lstStyle/>
          <a:p>
            <a:endParaRPr lang="en-IN"/>
          </a:p>
        </p:txBody>
      </p:sp>
      <p:pic>
        <p:nvPicPr>
          <p:cNvPr id="7" name="Image 1" descr="/home/claude/work/assets/logo.png"/>
          <p:cNvPicPr>
            <a:picLocks noChangeAspect="1"/>
          </p:cNvPicPr>
          <p:nvPr/>
        </p:nvPicPr>
        <p:blipFill>
          <a:blip r:embed="rId4"/>
          <a:stretch>
            <a:fillRect/>
          </a:stretch>
        </p:blipFill>
        <p:spPr>
          <a:xfrm>
            <a:off x="10771632" y="6473952"/>
            <a:ext cx="1188720" cy="248040"/>
          </a:xfrm>
          <a:prstGeom prst="rect">
            <a:avLst/>
          </a:prstGeom>
        </p:spPr>
      </p:pic>
      <p:sp>
        <p:nvSpPr>
          <p:cNvPr id="8" name="Text 4"/>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Key Challenges to Manage</a:t>
            </a:r>
            <a:endParaRPr lang="en-US" sz="2600" dirty="0"/>
          </a:p>
        </p:txBody>
      </p:sp>
      <p:sp>
        <p:nvSpPr>
          <p:cNvPr id="3" name="Text 1"/>
          <p:cNvSpPr/>
          <p:nvPr/>
        </p:nvSpPr>
        <p:spPr>
          <a:xfrm>
            <a:off x="731520" y="1417320"/>
            <a:ext cx="10725912" cy="4754880"/>
          </a:xfrm>
          <a:prstGeom prst="rect">
            <a:avLst/>
          </a:prstGeom>
          <a:noFill/>
          <a:ln/>
        </p:spPr>
        <p:txBody>
          <a:bodyPr wrap="square" rtlCol="0" anchor="t"/>
          <a:lstStyle/>
          <a:p>
            <a:pPr>
              <a:spcAft>
                <a:spcPts val="2000"/>
              </a:spcAft>
              <a:buSzPct val="100000"/>
            </a:pPr>
            <a:r>
              <a:rPr lang="en-IN" sz="2000" b="1" dirty="0"/>
              <a:t>Data cleaning and transformation</a:t>
            </a:r>
            <a:r>
              <a:rPr lang="en-IN" sz="2000" dirty="0"/>
              <a:t>: Handling missing values, checking data types, and preparing the raw retail data for analysis.</a:t>
            </a:r>
          </a:p>
          <a:p>
            <a:pPr>
              <a:spcAft>
                <a:spcPts val="2000"/>
              </a:spcAft>
              <a:buSzPct val="100000"/>
            </a:pPr>
            <a:r>
              <a:rPr lang="en-IN" sz="2000" b="1" dirty="0"/>
              <a:t>Creating meaningful visuals: </a:t>
            </a:r>
            <a:r>
              <a:rPr lang="en-IN" sz="2000" dirty="0"/>
              <a:t>Selecting the right charts to clearly represent sales, profit, regional and product performance without making the dashboard cluttered.</a:t>
            </a:r>
          </a:p>
          <a:p>
            <a:pPr>
              <a:spcAft>
                <a:spcPts val="2000"/>
              </a:spcAft>
              <a:buSzPct val="100000"/>
            </a:pPr>
            <a:r>
              <a:rPr lang="en-IN" sz="2000" b="1" dirty="0"/>
              <a:t>DAX calculations: </a:t>
            </a:r>
            <a:r>
              <a:rPr lang="en-IN" sz="2000" dirty="0"/>
              <a:t>Creating accurate measures for KPIs such as Total Sales, Total Profit, Profit Margin %, and Return Rate %.</a:t>
            </a:r>
          </a:p>
          <a:p>
            <a:pPr>
              <a:spcAft>
                <a:spcPts val="2000"/>
              </a:spcAft>
              <a:buSzPct val="100000"/>
            </a:pPr>
            <a:r>
              <a:rPr lang="en-IN" sz="2000" b="1" dirty="0"/>
              <a:t>Interactive features: </a:t>
            </a:r>
            <a:r>
              <a:rPr lang="en-IN" sz="2000" dirty="0"/>
              <a:t>Setting up slicers, conditional formatting, and drill-through so users can explore the data easily. </a:t>
            </a:r>
          </a:p>
          <a:p>
            <a:pPr>
              <a:spcAft>
                <a:spcPts val="2000"/>
              </a:spcAft>
              <a:buSzPct val="100000"/>
            </a:pPr>
            <a:r>
              <a:rPr lang="en-IN" sz="2000" b="1" dirty="0"/>
              <a:t>Dashboard design: </a:t>
            </a:r>
            <a:r>
              <a:rPr lang="en-IN" sz="2000" dirty="0"/>
              <a:t>Maintaining a clean and professional layout while presenting multiple KPIs and visuals on a single page.</a:t>
            </a:r>
            <a:endParaRPr lang="en-US" sz="2000" dirty="0"/>
          </a:p>
        </p:txBody>
      </p:sp>
      <p:sp>
        <p:nvSpPr>
          <p:cNvPr id="4" name="Shape 2"/>
          <p:cNvSpPr/>
          <p:nvPr/>
        </p:nvSpPr>
        <p:spPr>
          <a:xfrm>
            <a:off x="10680192" y="6400800"/>
            <a:ext cx="1371600" cy="420624"/>
          </a:xfrm>
          <a:prstGeom prst="rect">
            <a:avLst/>
          </a:prstGeom>
          <a:solidFill>
            <a:srgbClr val="FFFFFF"/>
          </a:solidFill>
          <a:ln/>
        </p:spPr>
        <p:txBody>
          <a:bodyPr/>
          <a:lstStyle/>
          <a:p>
            <a:endParaRPr lang="en-IN"/>
          </a:p>
        </p:txBody>
      </p:sp>
      <p:pic>
        <p:nvPicPr>
          <p:cNvPr id="5"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
        <p:nvSpPr>
          <p:cNvPr id="6" name="Text 3"/>
          <p:cNvSpPr/>
          <p:nvPr/>
        </p:nvSpPr>
        <p:spPr>
          <a:xfrm>
            <a:off x="365760" y="6492240"/>
            <a:ext cx="365760" cy="274320"/>
          </a:xfrm>
          <a:prstGeom prst="rect">
            <a:avLst/>
          </a:prstGeom>
          <a:noFill/>
          <a:ln/>
        </p:spPr>
        <p:txBody>
          <a:bodyPr wrap="square" rtlCol="0" anchor="ctr"/>
          <a:lstStyle/>
          <a:p>
            <a:pPr marL="0" indent="0" algn="l">
              <a:buNone/>
            </a:pP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marL="0" indent="0" algn="l">
              <a:buNone/>
            </a:pPr>
            <a:r>
              <a:rPr lang="en-US" sz="2600" b="1" dirty="0">
                <a:solidFill>
                  <a:srgbClr val="FF0000"/>
                </a:solidFill>
                <a:latin typeface="Arial" pitchFamily="34" charset="0"/>
                <a:ea typeface="Arial" pitchFamily="34" charset="-122"/>
                <a:cs typeface="Arial" pitchFamily="34" charset="-120"/>
              </a:rPr>
              <a:t>Power BI Techniques Applied</a:t>
            </a:r>
            <a:endParaRPr lang="en-US" sz="2600" dirty="0"/>
          </a:p>
        </p:txBody>
      </p:sp>
      <p:sp>
        <p:nvSpPr>
          <p:cNvPr id="3" name="Text 1"/>
          <p:cNvSpPr/>
          <p:nvPr/>
        </p:nvSpPr>
        <p:spPr>
          <a:xfrm>
            <a:off x="731520" y="1371600"/>
            <a:ext cx="10725912" cy="4754880"/>
          </a:xfrm>
          <a:prstGeom prst="rect">
            <a:avLst/>
          </a:prstGeom>
          <a:noFill/>
          <a:ln/>
        </p:spPr>
        <p:txBody>
          <a:bodyPr wrap="square" rtlCol="0" anchor="t"/>
          <a:lstStyle/>
          <a:p>
            <a:pPr marL="342900" indent="-3429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Power Query — data cleaning, type conversion, and de-duplication</a:t>
            </a:r>
            <a:endParaRPr lang="en-US" sz="1600" dirty="0"/>
          </a:p>
          <a:p>
            <a:pPr marL="342900" indent="-3429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Star-schema data modeling — one fact table, two-dimension tables</a:t>
            </a:r>
            <a:endParaRPr lang="en-US" sz="1600" dirty="0"/>
          </a:p>
          <a:p>
            <a:pPr marL="342900" indent="-3429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DAX functions — SUM, AVERAGE, DIVIDE, COUNTROW,RANKX</a:t>
            </a:r>
            <a:endParaRPr lang="en-US" sz="1600" dirty="0"/>
          </a:p>
          <a:p>
            <a:pPr marL="342900" indent="-3429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Core visuals — line, bar, and donut charts plus a KPI gauge</a:t>
            </a:r>
            <a:endParaRPr lang="en-US" sz="1600" dirty="0"/>
          </a:p>
          <a:p>
            <a:pPr marL="342900" indent="-3429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Slicers for Year, Region, Segment, and Category</a:t>
            </a:r>
            <a:endParaRPr lang="en-US" sz="1600" dirty="0"/>
          </a:p>
          <a:p>
            <a:pPr marL="342900" indent="-3429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Drill-through pages from Region to Product to Customer</a:t>
            </a:r>
            <a:endParaRPr lang="en-US" sz="1600" dirty="0"/>
          </a:p>
          <a:p>
            <a:pPr marL="342900" indent="-342900">
              <a:spcAft>
                <a:spcPts val="1400"/>
              </a:spcAft>
              <a:buSzPct val="100000"/>
              <a:buChar char="✓"/>
            </a:pPr>
            <a:r>
              <a:rPr lang="en-US" sz="1600" dirty="0">
                <a:solidFill>
                  <a:srgbClr val="1A1A1A"/>
                </a:solidFill>
                <a:latin typeface="Arial" pitchFamily="34" charset="0"/>
                <a:ea typeface="Arial" pitchFamily="34" charset="-122"/>
                <a:cs typeface="Arial" pitchFamily="34" charset="-120"/>
              </a:rPr>
              <a:t>Conditional formatting to flag negative profit in red</a:t>
            </a:r>
            <a:endParaRPr lang="en-US" sz="1600" dirty="0"/>
          </a:p>
        </p:txBody>
      </p:sp>
      <p:sp>
        <p:nvSpPr>
          <p:cNvPr id="4" name="Shape 2"/>
          <p:cNvSpPr/>
          <p:nvPr/>
        </p:nvSpPr>
        <p:spPr>
          <a:xfrm>
            <a:off x="10680192" y="6400800"/>
            <a:ext cx="1371600" cy="420624"/>
          </a:xfrm>
          <a:prstGeom prst="rect">
            <a:avLst/>
          </a:prstGeom>
          <a:solidFill>
            <a:srgbClr val="FFFFFF"/>
          </a:solidFill>
          <a:ln/>
        </p:spPr>
        <p:txBody>
          <a:bodyPr/>
          <a:lstStyle/>
          <a:p>
            <a:endParaRPr lang="en-IN"/>
          </a:p>
        </p:txBody>
      </p:sp>
      <p:pic>
        <p:nvPicPr>
          <p:cNvPr id="5" name="Image 0" descr="/home/claude/work/assets/logo.png"/>
          <p:cNvPicPr>
            <a:picLocks noChangeAspect="1"/>
          </p:cNvPicPr>
          <p:nvPr/>
        </p:nvPicPr>
        <p:blipFill>
          <a:blip r:embed="rId3"/>
          <a:stretch>
            <a:fillRect/>
          </a:stretch>
        </p:blipFill>
        <p:spPr>
          <a:xfrm>
            <a:off x="10771632" y="6473952"/>
            <a:ext cx="1188720" cy="2480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625C7A-419A-ACAC-29F6-14FB6A3D8443}"/>
              </a:ext>
            </a:extLst>
          </p:cNvPr>
          <p:cNvSpPr txBox="1"/>
          <p:nvPr/>
        </p:nvSpPr>
        <p:spPr>
          <a:xfrm>
            <a:off x="468351" y="261382"/>
            <a:ext cx="8672860" cy="492443"/>
          </a:xfrm>
          <a:prstGeom prst="rect">
            <a:avLst/>
          </a:prstGeom>
          <a:noFill/>
        </p:spPr>
        <p:txBody>
          <a:bodyPr wrap="square">
            <a:spAutoFit/>
          </a:bodyPr>
          <a:lstStyle/>
          <a:p>
            <a:pPr marL="0" indent="0" algn="l">
              <a:buNone/>
            </a:pPr>
            <a:r>
              <a:rPr lang="en-US" sz="2600" b="1" dirty="0">
                <a:solidFill>
                  <a:srgbClr val="FF0000"/>
                </a:solidFill>
                <a:latin typeface="Arial" pitchFamily="34" charset="0"/>
                <a:cs typeface="Arial" pitchFamily="34" charset="-120"/>
              </a:rPr>
              <a:t>Conclusion</a:t>
            </a:r>
            <a:endParaRPr lang="en-US" sz="2600" dirty="0"/>
          </a:p>
        </p:txBody>
      </p:sp>
      <p:sp>
        <p:nvSpPr>
          <p:cNvPr id="7" name="TextBox 6">
            <a:extLst>
              <a:ext uri="{FF2B5EF4-FFF2-40B4-BE49-F238E27FC236}">
                <a16:creationId xmlns:a16="http://schemas.microsoft.com/office/drawing/2014/main" id="{ECB18703-49B8-37F0-86E5-B6DCEB15F712}"/>
              </a:ext>
            </a:extLst>
          </p:cNvPr>
          <p:cNvSpPr txBox="1"/>
          <p:nvPr/>
        </p:nvSpPr>
        <p:spPr>
          <a:xfrm>
            <a:off x="468351" y="1226634"/>
            <a:ext cx="11017405" cy="3693319"/>
          </a:xfrm>
          <a:prstGeom prst="rect">
            <a:avLst/>
          </a:prstGeom>
          <a:noFill/>
        </p:spPr>
        <p:txBody>
          <a:bodyPr wrap="square">
            <a:spAutoFit/>
          </a:bodyPr>
          <a:lstStyle/>
          <a:p>
            <a:pPr marL="285750" lvl="0" indent="-285750">
              <a:buFont typeface="Wingdings" panose="05000000000000000000" pitchFamily="2" charset="2"/>
              <a:buChar char="ü"/>
            </a:pPr>
            <a:r>
              <a:rPr lang="en-IN" dirty="0"/>
              <a:t>Developed an interactive </a:t>
            </a:r>
            <a:r>
              <a:rPr lang="en-IN" b="1" dirty="0"/>
              <a:t>Global Retail Sales Dashboard using Power BI</a:t>
            </a:r>
            <a:r>
              <a:rPr lang="en-IN" dirty="0"/>
              <a:t>.</a:t>
            </a:r>
          </a:p>
          <a:p>
            <a:pPr marL="285750" lvl="0" indent="-285750">
              <a:buFont typeface="Wingdings" panose="05000000000000000000" pitchFamily="2" charset="2"/>
              <a:buChar char="ü"/>
            </a:pPr>
            <a:endParaRPr lang="en-IN" dirty="0"/>
          </a:p>
          <a:p>
            <a:pPr marL="285750" lvl="0" indent="-285750">
              <a:buFont typeface="Wingdings" panose="05000000000000000000" pitchFamily="2" charset="2"/>
              <a:buChar char="ü"/>
            </a:pPr>
            <a:r>
              <a:rPr lang="en-IN" dirty="0"/>
              <a:t>Analyzed </a:t>
            </a:r>
            <a:r>
              <a:rPr lang="en-IN" b="1" dirty="0"/>
              <a:t>Sales, Profit, Discounts, Returns, Products, and Shipping Performance.</a:t>
            </a:r>
          </a:p>
          <a:p>
            <a:pPr marL="285750" lvl="0" indent="-285750">
              <a:buFont typeface="Wingdings" panose="05000000000000000000" pitchFamily="2" charset="2"/>
              <a:buChar char="ü"/>
            </a:pPr>
            <a:endParaRPr lang="en-IN" b="1" dirty="0"/>
          </a:p>
          <a:p>
            <a:pPr marL="285750" lvl="0" indent="-285750">
              <a:buFont typeface="Wingdings" panose="05000000000000000000" pitchFamily="2" charset="2"/>
              <a:buChar char="ü"/>
            </a:pPr>
            <a:r>
              <a:rPr lang="en-IN" dirty="0"/>
              <a:t>Identified high and low performing regions, products, and customer segments.</a:t>
            </a:r>
          </a:p>
          <a:p>
            <a:pPr marL="285750" lvl="0" indent="-285750">
              <a:buFont typeface="Wingdings" panose="05000000000000000000" pitchFamily="2" charset="2"/>
              <a:buChar char="ü"/>
            </a:pPr>
            <a:endParaRPr lang="en-IN" dirty="0"/>
          </a:p>
          <a:p>
            <a:pPr marL="285750" lvl="0" indent="-285750">
              <a:buFont typeface="Wingdings" panose="05000000000000000000" pitchFamily="2" charset="2"/>
              <a:buChar char="ü"/>
            </a:pPr>
            <a:r>
              <a:rPr lang="en-IN" dirty="0"/>
              <a:t>Analyzed the impact of discounts and returned orders on profitability.</a:t>
            </a:r>
          </a:p>
          <a:p>
            <a:pPr marL="285750" lvl="0" indent="-285750">
              <a:buFont typeface="Wingdings" panose="05000000000000000000" pitchFamily="2" charset="2"/>
              <a:buChar char="ü"/>
            </a:pPr>
            <a:endParaRPr lang="en-IN" dirty="0"/>
          </a:p>
          <a:p>
            <a:pPr marL="285750" lvl="0" indent="-285750">
              <a:buFont typeface="Wingdings" panose="05000000000000000000" pitchFamily="2" charset="2"/>
              <a:buChar char="ü"/>
            </a:pPr>
            <a:r>
              <a:rPr lang="en-IN" dirty="0"/>
              <a:t>Compared shipping modes and regional performance.</a:t>
            </a:r>
          </a:p>
          <a:p>
            <a:pPr marL="285750" lvl="0" indent="-285750">
              <a:buFont typeface="Wingdings" panose="05000000000000000000" pitchFamily="2" charset="2"/>
              <a:buChar char="ü"/>
            </a:pPr>
            <a:endParaRPr lang="en-IN" dirty="0"/>
          </a:p>
          <a:p>
            <a:pPr marL="285750" lvl="0" indent="-285750">
              <a:buFont typeface="Wingdings" panose="05000000000000000000" pitchFamily="2" charset="2"/>
              <a:buChar char="ü"/>
            </a:pPr>
            <a:r>
              <a:rPr lang="en-IN" dirty="0"/>
              <a:t>Used </a:t>
            </a:r>
            <a:r>
              <a:rPr lang="en-IN" b="1" dirty="0"/>
              <a:t>KPIs, charts, slicers, and DAX measures</a:t>
            </a:r>
            <a:r>
              <a:rPr lang="en-IN" dirty="0"/>
              <a:t> to present the analysis clearly.</a:t>
            </a:r>
          </a:p>
          <a:p>
            <a:pPr marL="285750" lvl="0" indent="-285750">
              <a:buFont typeface="Wingdings" panose="05000000000000000000" pitchFamily="2" charset="2"/>
              <a:buChar char="ü"/>
            </a:pPr>
            <a:endParaRPr lang="en-IN" dirty="0"/>
          </a:p>
          <a:p>
            <a:pPr marL="285750" lvl="0" indent="-285750">
              <a:buFont typeface="Wingdings" panose="05000000000000000000" pitchFamily="2" charset="2"/>
              <a:buChar char="ü"/>
            </a:pPr>
            <a:r>
              <a:rPr lang="en-IN" dirty="0"/>
              <a:t>The dashboard helps management </a:t>
            </a:r>
            <a:r>
              <a:rPr lang="en-IN" b="1" dirty="0"/>
              <a:t>understand business performance and make better data-driven decisions</a:t>
            </a:r>
            <a:r>
              <a:rPr lang="en-IN" dirty="0"/>
              <a:t>.</a:t>
            </a:r>
          </a:p>
        </p:txBody>
      </p:sp>
    </p:spTree>
    <p:extLst>
      <p:ext uri="{BB962C8B-B14F-4D97-AF65-F5344CB8AC3E}">
        <p14:creationId xmlns:p14="http://schemas.microsoft.com/office/powerpoint/2010/main" val="16767935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pic>
        <p:nvPicPr>
          <p:cNvPr id="6" name="Image 0" descr="/home/claude/work/assets/logo.png"/>
          <p:cNvPicPr>
            <a:picLocks noChangeAspect="1"/>
          </p:cNvPicPr>
          <p:nvPr/>
        </p:nvPicPr>
        <p:blipFill>
          <a:blip r:embed="rId3"/>
          <a:stretch>
            <a:fillRect/>
          </a:stretch>
        </p:blipFill>
        <p:spPr>
          <a:xfrm>
            <a:off x="9516451" y="6279252"/>
            <a:ext cx="2377440" cy="496080"/>
          </a:xfrm>
          <a:prstGeom prst="rect">
            <a:avLst/>
          </a:prstGeom>
        </p:spPr>
      </p:pic>
      <p:sp>
        <p:nvSpPr>
          <p:cNvPr id="7" name="Text 4"/>
          <p:cNvSpPr/>
          <p:nvPr/>
        </p:nvSpPr>
        <p:spPr>
          <a:xfrm>
            <a:off x="822960" y="3017520"/>
            <a:ext cx="5486400" cy="822960"/>
          </a:xfrm>
          <a:prstGeom prst="rect">
            <a:avLst/>
          </a:prstGeom>
          <a:noFill/>
          <a:ln/>
        </p:spPr>
        <p:txBody>
          <a:bodyPr wrap="square" rtlCol="0" anchor="ctr"/>
          <a:lstStyle/>
          <a:p>
            <a:pPr marL="0" indent="0">
              <a:buNone/>
            </a:pPr>
            <a:r>
              <a:rPr lang="en-US" sz="3200" b="1" dirty="0">
                <a:solidFill>
                  <a:srgbClr val="FF0000"/>
                </a:solidFill>
                <a:latin typeface="Libre Baskerville" panose="02000000000000000000" pitchFamily="2" charset="0"/>
                <a:ea typeface="Arial" pitchFamily="34" charset="-122"/>
                <a:cs typeface="Arial" pitchFamily="34" charset="-120"/>
              </a:rPr>
              <a:t>THANK </a:t>
            </a:r>
          </a:p>
          <a:p>
            <a:pPr marL="0" indent="0">
              <a:buNone/>
            </a:pPr>
            <a:r>
              <a:rPr lang="en-US" sz="3200" b="1" dirty="0">
                <a:solidFill>
                  <a:srgbClr val="FF0000"/>
                </a:solidFill>
                <a:latin typeface="Libre Baskerville" panose="02000000000000000000" pitchFamily="2" charset="0"/>
                <a:ea typeface="Arial" pitchFamily="34" charset="-122"/>
                <a:cs typeface="Arial" pitchFamily="34" charset="-120"/>
              </a:rPr>
              <a:t>YOU</a:t>
            </a:r>
            <a:endParaRPr lang="en-US" sz="3200" dirty="0">
              <a:latin typeface="Libre Baskerville" panose="02000000000000000000" pitchFamily="2" charset="0"/>
            </a:endParaRPr>
          </a:p>
        </p:txBody>
      </p:sp>
      <p:sp>
        <p:nvSpPr>
          <p:cNvPr id="8" name="Text 5"/>
          <p:cNvSpPr/>
          <p:nvPr/>
        </p:nvSpPr>
        <p:spPr>
          <a:xfrm>
            <a:off x="6583680" y="2651760"/>
            <a:ext cx="3200400" cy="1645920"/>
          </a:xfrm>
          <a:prstGeom prst="rect">
            <a:avLst/>
          </a:prstGeom>
          <a:noFill/>
          <a:ln/>
        </p:spPr>
        <p:txBody>
          <a:bodyPr wrap="square" rtlCol="0" anchor="ctr"/>
          <a:lstStyle/>
          <a:p>
            <a:pPr marL="0" indent="0" algn="ctr">
              <a:buNone/>
            </a:pPr>
            <a:r>
              <a:rPr lang="en-US" sz="9000" dirty="0">
                <a:solidFill>
                  <a:srgbClr val="000000"/>
                </a:solidFill>
              </a:rPr>
              <a:t>🤝</a:t>
            </a:r>
            <a:endParaRPr lang="en-US" sz="9000" dirty="0"/>
          </a:p>
        </p:txBody>
      </p:sp>
      <p:pic>
        <p:nvPicPr>
          <p:cNvPr id="10" name="Google Shape;116;p5">
            <a:extLst>
              <a:ext uri="{FF2B5EF4-FFF2-40B4-BE49-F238E27FC236}">
                <a16:creationId xmlns:a16="http://schemas.microsoft.com/office/drawing/2014/main" id="{BD3C49E7-2864-DD14-4D82-2D16E75253A0}"/>
              </a:ext>
            </a:extLst>
          </p:cNvPr>
          <p:cNvPicPr preferRelativeResize="0"/>
          <p:nvPr/>
        </p:nvPicPr>
        <p:blipFill rotWithShape="1">
          <a:blip r:embed="rId4">
            <a:alphaModFix/>
          </a:blip>
          <a:srcRect/>
          <a:stretch/>
        </p:blipFill>
        <p:spPr>
          <a:xfrm>
            <a:off x="6309361" y="1885918"/>
            <a:ext cx="4638040" cy="283431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1475</Words>
  <Application>Microsoft Office PowerPoint</Application>
  <PresentationFormat>Widescreen</PresentationFormat>
  <Paragraphs>211</Paragraphs>
  <Slides>22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Consolas</vt:lpstr>
      <vt:lpstr>Libre Baskerville</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velagada dayana</cp:lastModifiedBy>
  <cp:revision>8</cp:revision>
  <dcterms:created xsi:type="dcterms:W3CDTF">2026-09-06T13:15:01Z</dcterms:created>
  <dcterms:modified xsi:type="dcterms:W3CDTF">2026-09-10T10:21:16Z</dcterms:modified>
</cp:coreProperties>
</file>